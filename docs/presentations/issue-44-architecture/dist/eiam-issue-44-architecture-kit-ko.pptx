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목적: 이슈 #44가 EIAM의 빌드·호스팅·릴리스 신뢰성을 어떻게 높였는지 설명하고, 일반적인 WAS/서버 통신 슬라이드로 확장할 수 있는 편집 가능한 구성 요소를 제공한다.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조합: 표지 → 요약 → 시스템 컨텍스트 → 핵심 흐름 1~2장 → 장애/운영 → 의사결정 → 로드맵. 실제 EIAM 섹션과 선택형 WAS 예시를 섞을 때는 반드시 ‘현재’와 ‘목표/예시’를 라벨로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Noto Sans CJK KR을 기본 글꼴로 사용한다. 조직 표준 폰트가 있으면 전체 선택 후 글꼴만 바꾼다. 색상은 장식이 아니라 의미에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노드는 배경 카드, 색상 아이콘, 이름, 기술 메타데이터로 구성된다. 서비스 역할에 따라 색을 바꾸되 같은 슬라이드에서는 같은 역할에 같은 색을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소스 구조 페이지에는 폴더 트리와 모듈 책임 카드를 함께 사용한다. 운영 페이지에는 숫자보다 상태와 임계치를 우선 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 호출, 비동기 이벤트, 데이터 복제, 실패/보상, 신뢰 경계를 서로 다른 선으로 표현한다. 한 장에서 선 스타일은 최대 네 종류를 권장한다.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미니어처는 뒤쪽 실전 슬라이드의 레이아웃을 축약한 것이다. 새 슬라이드를 만들 때 가까운 예제를 복제하고 요소를 삭제해서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이슈 #44의 실제 아키텍처
EIAM은 Markdown을 정적 사이트로 변환하는 Bun 기반 생성기다. 운영 시점에 요청을 처리하는 WAS는 없으며, 신뢰성은 빌드 트랜잭션·검증 게이트·불변 아티팩트·Cloudflare Pages 배포 계약에서 확보한다.
이 슬라이드는 섹션 구분용이다. 제목과 설명을 교체해 재사용한다.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요약: 실패한 빌드는 마지막 정상 출력을 보존한다. 도구·런타임 의존성을 고정한다. 가변 콘텐츠와 해시 자산의 캐시 정책을 분리한다. 릴리스와 사이트 배포를 별도 책임으로 운영한다.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사용자는 Cloudflare Pages가 제공하는 정적 HTML/JS/CSS/JSON을 읽는다. Bun/EIAM은 작성 또는 CI 빌드 시점에만 실행된다. 별도 API/WAS는 이 구조의 필수 요소가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생성기 저장소는 npm 패키지와 재사용 워크플로를 제공한다. Vault 저장소는 콘텐츠, 설정, Cloudflare 프로젝트와 자격 증명을 소유한다. 빌드 job은 자격 증명을 읽지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buildSite는 저장소 상태 검사, 입력 읽기, 트랜잭션 시작, 출력 준비, 그래프 구성, 렌더링, 출력 기록, 커밋을 순서대로 조정한다. 예외는 abortBuildStorageTransaction으로 전달한다.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최종 output 디렉터리에 직접 덮어쓰지 않는 것이다. staging이 완성된 뒤 기존 output을 backup으로 이동하고 staging을 output으로 rename한다. 교체 실패 시 backup을 되돌린다.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HTML, manifest, content fragment, SEO 파일과 안정된 이름의 정적 파일은 must-revalidate다. EIAM이 생성한 콘텐츠 해시 JS/CSS만 1년 immutable이다. Mermaid는 필요한 문서가 있을 때만 고정 버전을 self-host한다.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validator는 프로덕션 설정으로 사이트를 빌드하고 출력 스냅샷, 링크와 경로, 캐시 규칙, 재현성, Markdown 검사 등을 확인한다. JSON 보고서는 실패 시에도 업로드할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release.yml만 v* 태그를 발행한다. quality job에서 정확한 태그를 체크아웃하고 검증한 뒤 tarball을 만든다. publish job은 전달된 동일 바이트의 SRI/SHA-256을 확인하고 자격 증명을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build-validate job이 검증된 사이트와 보고서를 업로드한다. artifact-only에서는 여기서 종료한다. deploy job은 정확한 아티팩트를 내려받아 프로젝트 환경을 확인하고 고정 Wrangler로 Direct Upload한다.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실패는 로컬/CI의 기존 output을 보존한다. 검증 실패는 site artifact와 deploy job을 차단한다. 배포 실패는 기존 Cloudflare 배포를 유지한다. 운영 회귀는 이전 성공 production deployment로 수동 롤백한다.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작업은 도구 고정, atomic output, Mermaid self-hosting, cache headers, release artifact 정리, release workflow 통합, production validator, Cloudflare deployment 순서로 병합됐다.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src/build는 빌드 파이프라인과 저장소 트랜잭션을 소유한다. src/runtime은 생성된 사이트에서 실행되는 브라우저 컨트롤러다. scripts는 프로덕션 검증과 품질 도구, workflows는 릴리스와 배포 전달을 소유한다.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CLI는 buildSite를 호출한다. pipeline은 source, graph, content, output, storage를 조정한다. runtime 코드는 빌드 결과물로 전달되지만 빌드 오케스트레이션을 역참조하지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WAS·서버 통신 참조 아키텍처
다음 슬라이드는 EIAM의 현재 필수 구조가 아니다. 별도 API, 업무 트랜잭션, 실시간 데이터가 필요한 시스템을 설명할 때 복사해 쓰는 선택형 예제다.
이 슬라이드는 섹션 구분용이다. 제목과 설명을 교체해 재사용한다.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API와 업무 데이터가 필요한 일반적인 서비스 예시다. EIAM에 그대로 필요한 구조가 아니다. 각 영역 이름, 노드 기술, 프로토콜을 조직 환경에 맞게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 호출은 단순하지만 지연과 장애가 호출 체인을 따라 전파된다. 선 라벨에는 프로토콜뿐 아니라 timeout, 재시도 허용 여부, 멱등 키를 함께 적는다.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시퀀스는 한 요청의 시간 순서를 보여준다. 아래 예시는 DB 트랜잭션 안에서 주문과 outbox를 함께 기록하고, 결제 실패 시 주문 상태를 FAILED로 바꾸는 단순화된 흐름이다.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트랜잭션에서 업무 데이터와 outbox 이벤트를 함께 기록한다. relay가 broker로 전달하고 consumer는 event-id를 이용해 멱등 처리한다. 실패는 DLQ에 보관하고 원인 수정 후 재처리한다.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 위치만 신뢰하지 않는다. 외부 사용자, edge, service-to-service, data 계층마다 독립적으로 신원을 검증하고 권한을 제한한다. 비밀은 배포 job과 런타임 secret store에만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장애, 인스턴스 장애, 의존 서비스 장애, 데이터 장애를 구분한다. WAS는 두 AZ에 stateless로 분산하고 DB는 동기/비동기 복제의 RPO를 명시한다. 외부 장애는 circuit breaker로 격리한다.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요청에 trace-id, request-id, user-safe correlation-id를 전파한다. 애플리케이션은 구조화 로그, RED/USE 메트릭, span을 collector로 보낸다. 알람은 사용자 영향과 운영 조치가 있을 때만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 즉시성이 필요하고 하위 결과가 현재 트랜잭션에 필수면 동기를 고려한다. 느슨한 결합, 버퍼링, 팬아웃이 중요하면 비동기 이벤트를 고려한다. 대량 재처리와 시간 창 기반 처리는 배치가 적합하다.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단계는 선행 위험을 제거하고 완료 조건을 가진다. 모든 시스템에 모든 단계를 적용할 필요는 없다. 현재 정적 구조만으로 충분하면 API/WAS 추가를 의사결정으로 보류할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시 이 체크리스트를 사용한다. ‘현재 구조’와 ‘목표 구조’를 구분하고, 인터페이스·데이터·보안·장애·운영·배포·소유권의 답이 슬라이드 안에 있는지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 KIT</a:t>
            </a:r>
            <a:endParaRPr lang="en-US" sz="73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8092440" y="-1600200"/>
            <a:ext cx="5715000" cy="5715000"/>
          </a:xfrm>
          <a:prstGeom prst="ellipse">
            <a:avLst/>
          </a:prstGeom>
          <a:solidFill>
            <a:srgbClr val="2563EB">
              <a:alpha val="3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81160" y="3383280"/>
            <a:ext cx="3749040" cy="37490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0" y="4206240"/>
            <a:ext cx="2103120" cy="210312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585216"/>
            <a:ext cx="2651760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94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ISSUE #44 · PRODUCTION RELIABILITY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2801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 아키텍처를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설명하는 가장 깨끗한 방법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331012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EIAM의 실제 정적 빌드·검증·배포 구조 + 조합 가능한 WAS·서버 통신 참조 아키텍처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BEAF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48646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편집 가능한 벡터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633472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273552" y="48646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상세 슬라이드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BEAF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48646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최적화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94944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Everything Is A Markdown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298448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가이드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덱을 조합하는 방법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슬라이드 전체를 복제한 뒤 메시지와 노드만 교체한다.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가이드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30352" y="1600200"/>
            <a:ext cx="25146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B122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" y="1600200"/>
            <a:ext cx="73152" cy="14813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1801368"/>
            <a:ext cx="429768" cy="429768"/>
          </a:xfrm>
          <a:prstGeom prst="roundRect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1783080"/>
            <a:ext cx="1545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 선택</a:t>
            </a:r>
            <a:endParaRPr lang="en-US" sz="1230" dirty="0"/>
          </a:p>
        </p:txBody>
      </p:sp>
      <p:sp>
        <p:nvSpPr>
          <p:cNvPr id="16" name="Text 13"/>
          <p:cNvSpPr txBox="1"/>
          <p:nvPr/>
        </p:nvSpPr>
        <p:spPr>
          <a:xfrm>
            <a:off x="786384" y="23042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보고·제안·설계 리뷰 중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가지 목적만 먼저 정한다.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3044952" y="2331720"/>
            <a:ext cx="30175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46704" y="1600200"/>
            <a:ext cx="25146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B1220">
                <a:alpha val="12000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46704" y="1600200"/>
            <a:ext cx="73152" cy="148132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66160" y="1801368"/>
            <a:ext cx="429768" cy="429768"/>
          </a:xfrm>
          <a:prstGeom prst="round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93592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4114800" y="1783080"/>
            <a:ext cx="1545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구조 선택</a:t>
            </a:r>
            <a:endParaRPr lang="en-US" sz="1230" dirty="0"/>
          </a:p>
        </p:txBody>
      </p:sp>
      <p:sp>
        <p:nvSpPr>
          <p:cNvPr id="23" name="Text 20"/>
          <p:cNvSpPr txBox="1"/>
          <p:nvPr/>
        </p:nvSpPr>
        <p:spPr>
          <a:xfrm>
            <a:off x="3602736" y="23042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EIAM 또는 선택형 WAS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 기준 아키텍처를 고른다.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61304" y="2331720"/>
            <a:ext cx="30175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163056" y="1600200"/>
            <a:ext cx="25146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B1220">
                <a:alpha val="12000000000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63056" y="1600200"/>
            <a:ext cx="73152" cy="148132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82512" y="1801368"/>
            <a:ext cx="429768" cy="429768"/>
          </a:xfrm>
          <a:prstGeom prst="round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9944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931152" y="1783080"/>
            <a:ext cx="1545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흐름 추가</a:t>
            </a:r>
            <a:endParaRPr lang="en-US" sz="123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3042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동기·비동기·실패 경로를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 의미에 맞춰 연결한다.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677656" y="2331720"/>
            <a:ext cx="30175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979408" y="1600200"/>
            <a:ext cx="25146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B1220">
                <a:alpha val="1200000000000000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979408" y="1600200"/>
            <a:ext cx="73152" cy="14813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98864" y="1801368"/>
            <a:ext cx="429768" cy="429768"/>
          </a:xfrm>
          <a:prstGeom prst="round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26296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20" dirty="0"/>
          </a:p>
        </p:txBody>
      </p:sp>
      <p:sp>
        <p:nvSpPr>
          <p:cNvPr id="36" name="Text 33"/>
          <p:cNvSpPr txBox="1"/>
          <p:nvPr/>
        </p:nvSpPr>
        <p:spPr>
          <a:xfrm>
            <a:off x="9747504" y="1783080"/>
            <a:ext cx="1545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맥락 보강</a:t>
            </a:r>
            <a:endParaRPr lang="en-US" sz="1230" dirty="0"/>
          </a:p>
        </p:txBody>
      </p:sp>
      <p:sp>
        <p:nvSpPr>
          <p:cNvPr id="37" name="Text 34"/>
          <p:cNvSpPr txBox="1"/>
          <p:nvPr/>
        </p:nvSpPr>
        <p:spPr>
          <a:xfrm>
            <a:off x="9235440" y="23042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보안·HA·관측성·롤백을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만큼만 붙인다.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530352" y="3456432"/>
            <a:ext cx="11109960" cy="2350008"/>
          </a:xfrm>
          <a:prstGeom prst="round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" y="36941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발표 흐름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41248" y="4251960"/>
            <a:ext cx="1691640" cy="82296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87552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987552" y="4617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문제·목표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2532888" y="4663440"/>
            <a:ext cx="3931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2926080" y="4251960"/>
            <a:ext cx="1691640" cy="82296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72384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3072384" y="4617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컨텍스트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4617720" y="4663440"/>
            <a:ext cx="3931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010912" y="4251960"/>
            <a:ext cx="1691640" cy="82296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57216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HOW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5157216" y="4617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처리 흐름</a:t>
            </a:r>
            <a:endParaRPr lang="en-US" sz="920" dirty="0"/>
          </a:p>
        </p:txBody>
      </p:sp>
      <p:sp>
        <p:nvSpPr>
          <p:cNvPr id="51" name="Shape 48"/>
          <p:cNvSpPr/>
          <p:nvPr/>
        </p:nvSpPr>
        <p:spPr>
          <a:xfrm>
            <a:off x="6702552" y="4663440"/>
            <a:ext cx="3931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7095744" y="4251960"/>
            <a:ext cx="1691640" cy="82296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242048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7242048" y="4617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보안·실패·롤백</a:t>
            </a:r>
            <a:endParaRPr lang="en-US" sz="920" dirty="0"/>
          </a:p>
        </p:txBody>
      </p:sp>
      <p:sp>
        <p:nvSpPr>
          <p:cNvPr id="55" name="Shape 52"/>
          <p:cNvSpPr/>
          <p:nvPr/>
        </p:nvSpPr>
        <p:spPr>
          <a:xfrm>
            <a:off x="8787384" y="4663440"/>
            <a:ext cx="3931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9180576" y="4251960"/>
            <a:ext cx="1691640" cy="82296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326880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9326880" y="4617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결정·로드맵</a:t>
            </a:r>
            <a:endParaRPr lang="en-US" sz="920" dirty="0"/>
          </a:p>
        </p:txBody>
      </p:sp>
      <p:sp>
        <p:nvSpPr>
          <p:cNvPr id="59" name="Shape 56"/>
          <p:cNvSpPr/>
          <p:nvPr/>
        </p:nvSpPr>
        <p:spPr>
          <a:xfrm>
            <a:off x="9582912" y="5349240"/>
            <a:ext cx="822960" cy="27432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D1FAE5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674352" y="53583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구조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10497312" y="5349240"/>
            <a:ext cx="932688" cy="2743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0588752" y="53583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모던 아키텍처 디자인 시스템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색은 의미, 간격은 계층, 선은 통신 방식을 나타낸다.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COLOR TOKENS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1901952"/>
            <a:ext cx="1609344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PRIMARY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#2563EB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흐름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2414016" y="1901952"/>
            <a:ext cx="1609344" cy="10058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51176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551176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#7C3AED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551176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261104" y="1901952"/>
            <a:ext cx="1609344" cy="10058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98264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398264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#10B981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398264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정상·승인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6108192" y="1901952"/>
            <a:ext cx="1609344" cy="10058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45352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ATTENTION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245352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#F59E0B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245352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주의·대기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7955280" y="1901952"/>
            <a:ext cx="1609344" cy="100584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92440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FAILURE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092440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#F43F5E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092440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실패·차단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9802368" y="1901952"/>
            <a:ext cx="1609344" cy="10058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939528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NEUTRAL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9939528" y="23225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#334155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9939528" y="2578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경계·설명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566928" y="3310128"/>
            <a:ext cx="3456432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B1220">
                <a:alpha val="1.2e+24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6928" y="3310128"/>
            <a:ext cx="73152" cy="14447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6384" y="3511296"/>
            <a:ext cx="429768" cy="429768"/>
          </a:xfrm>
          <a:prstGeom prst="roundRect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13816" y="3520440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Aa</a:t>
            </a:r>
            <a:endParaRPr lang="en-US" sz="1020" dirty="0"/>
          </a:p>
        </p:txBody>
      </p:sp>
      <p:sp>
        <p:nvSpPr>
          <p:cNvPr id="40" name="Text 37"/>
          <p:cNvSpPr txBox="1"/>
          <p:nvPr/>
        </p:nvSpPr>
        <p:spPr>
          <a:xfrm>
            <a:off x="1335024" y="349300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타이포그래피</a:t>
            </a:r>
            <a:endParaRPr lang="en-US" sz="1230" dirty="0"/>
          </a:p>
        </p:txBody>
      </p:sp>
      <p:sp>
        <p:nvSpPr>
          <p:cNvPr id="41" name="Text 38"/>
          <p:cNvSpPr txBox="1"/>
          <p:nvPr/>
        </p:nvSpPr>
        <p:spPr>
          <a:xfrm>
            <a:off x="822960" y="401421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25–34 pt · H2 12–16 pt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9–12 pt · 캡션 7–8 pt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장에 핵심 문장 1개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4270248" y="3310128"/>
            <a:ext cx="3456432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B1220">
                <a:alpha val="1.2e+29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270248" y="3310128"/>
            <a:ext cx="73152" cy="144475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89704" y="3511296"/>
            <a:ext cx="429768" cy="429768"/>
          </a:xfrm>
          <a:prstGeom prst="round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517136" y="3520440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020" dirty="0"/>
          </a:p>
        </p:txBody>
      </p:sp>
      <p:sp>
        <p:nvSpPr>
          <p:cNvPr id="46" name="Text 43"/>
          <p:cNvSpPr txBox="1"/>
          <p:nvPr/>
        </p:nvSpPr>
        <p:spPr>
          <a:xfrm>
            <a:off x="5038344" y="349300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8pt 간격 리듬</a:t>
            </a:r>
            <a:endParaRPr lang="en-US" sz="1230" dirty="0"/>
          </a:p>
        </p:txBody>
      </p:sp>
      <p:sp>
        <p:nvSpPr>
          <p:cNvPr id="47" name="Text 44"/>
          <p:cNvSpPr txBox="1"/>
          <p:nvPr/>
        </p:nvSpPr>
        <p:spPr>
          <a:xfrm>
            <a:off x="4526280" y="401421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바깥 여백 0.58 in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 간격 0.24–0.32 in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여백 0.18–0.28 in</a:t>
            </a:r>
            <a:endParaRPr lang="en-US" sz="930" dirty="0"/>
          </a:p>
        </p:txBody>
      </p:sp>
      <p:sp>
        <p:nvSpPr>
          <p:cNvPr id="48" name="Shape 45"/>
          <p:cNvSpPr/>
          <p:nvPr/>
        </p:nvSpPr>
        <p:spPr>
          <a:xfrm>
            <a:off x="7973568" y="3310128"/>
            <a:ext cx="3456432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B1220">
                <a:alpha val="1.2e+34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7973568" y="3310128"/>
            <a:ext cx="73152" cy="14447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193024" y="3511296"/>
            <a:ext cx="429768" cy="429768"/>
          </a:xfrm>
          <a:prstGeom prst="roundRect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0456" y="3520440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</a:t>
            </a:r>
            <a:endParaRPr lang="en-US" sz="1020" dirty="0"/>
          </a:p>
        </p:txBody>
      </p:sp>
      <p:sp>
        <p:nvSpPr>
          <p:cNvPr id="52" name="Text 49"/>
          <p:cNvSpPr txBox="1"/>
          <p:nvPr/>
        </p:nvSpPr>
        <p:spPr>
          <a:xfrm>
            <a:off x="8741664" y="349300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계층 깊이</a:t>
            </a:r>
            <a:endParaRPr lang="en-US" sz="1230" dirty="0"/>
          </a:p>
        </p:txBody>
      </p:sp>
      <p:sp>
        <p:nvSpPr>
          <p:cNvPr id="53" name="Text 50"/>
          <p:cNvSpPr txBox="1"/>
          <p:nvPr/>
        </p:nvSpPr>
        <p:spPr>
          <a:xfrm>
            <a:off x="8229600" y="401421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 → 레인 → 노드 → 상태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최대 4단계까지만 사용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테두리는 0.8–1.25 pt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566928" y="5102352"/>
            <a:ext cx="11018520" cy="6583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4672" y="5276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 규칙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1700784" y="52303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노드 이름은 명사형 · 선 라벨은 동사형/프로토콜 · 상태는 완료형 · 예외는 ‘조건 → 결과’로 쓴다.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 카탈로그 ① 인프라·서비스 노드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노드를 복제하고 약어·이름·기술만 교체한다.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9344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B1220">
                <a:alpha val="1.1999999999999999e+3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2376" y="1792224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801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174650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채널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0665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· Mobile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3346704" y="1609344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B1220">
                <a:alpha val="1.1999999999999999e+4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02152" y="1792224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29584" y="1801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059936" y="174650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Edge / CDN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059936" y="20665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Cloudflare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6126480" y="1609344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B1220">
                <a:alpha val="1.2e+4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81928" y="1792224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1801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LB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839712" y="174650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839712" y="20665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L7 · TLS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8906256" y="1609344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B1220">
                <a:alpha val="1.2e+5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61704" y="1792224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89136" y="1801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9619488" y="174650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619488" y="20665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· JVM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566928" y="2871216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B1220">
                <a:alpha val="1.2e+59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22376" y="3054096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" y="30632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3008376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280160" y="332841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 · gRPC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346704" y="2871216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B1220">
                <a:alpha val="1.2000000000000001e+64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502152" y="3054096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29584" y="30632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059936" y="3008376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059936" y="332841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6126480" y="2871216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B1220">
                <a:alpha val="1.2e+69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281928" y="305409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09360" y="30632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MQ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6839712" y="3008376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Message Broker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839712" y="332841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Kafka · SQS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8906256" y="2871216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B1220">
                <a:alpha val="1.2e+74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9061704" y="3054096"/>
            <a:ext cx="448056" cy="4480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089136" y="30632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9619488" y="3008376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9619488" y="332841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R2 · S3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566928" y="4133088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B1220">
                <a:alpha val="1.2000000000000001e+79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722376" y="4315968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49808" y="4325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1280160" y="427024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System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1280160" y="459028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SaaS · Partner</a:t>
            </a:r>
            <a:endParaRPr lang="en-US" sz="740" dirty="0"/>
          </a:p>
        </p:txBody>
      </p:sp>
      <p:sp>
        <p:nvSpPr>
          <p:cNvPr id="56" name="Shape 53"/>
          <p:cNvSpPr/>
          <p:nvPr/>
        </p:nvSpPr>
        <p:spPr>
          <a:xfrm>
            <a:off x="3346704" y="4133088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B1220">
                <a:alpha val="1.2000000000000002e+84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3502152" y="4315968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529584" y="4325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4059936" y="427024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 / Worker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4059936" y="459028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Cron · Queue</a:t>
            </a:r>
            <a:endParaRPr lang="en-US" sz="740" dirty="0"/>
          </a:p>
        </p:txBody>
      </p:sp>
      <p:sp>
        <p:nvSpPr>
          <p:cNvPr id="61" name="Shape 58"/>
          <p:cNvSpPr/>
          <p:nvPr/>
        </p:nvSpPr>
        <p:spPr>
          <a:xfrm>
            <a:off x="6126480" y="4133088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B1220">
                <a:alpha val="1.2000000000000002e+89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281928" y="4315968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309360" y="4325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6839712" y="427024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Identity / WAF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6839712" y="459028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OIDC · Policy</a:t>
            </a:r>
            <a:endParaRPr lang="en-US" sz="740" dirty="0"/>
          </a:p>
        </p:txBody>
      </p:sp>
      <p:sp>
        <p:nvSpPr>
          <p:cNvPr id="66" name="Shape 63"/>
          <p:cNvSpPr/>
          <p:nvPr/>
        </p:nvSpPr>
        <p:spPr>
          <a:xfrm>
            <a:off x="8906256" y="4133088"/>
            <a:ext cx="249631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B1220">
                <a:alpha val="1.2000000000000001e+94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9061704" y="4315968"/>
            <a:ext cx="448056" cy="4480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089136" y="4325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</a:t>
            </a:r>
            <a:endParaRPr lang="en-US" sz="900" dirty="0"/>
          </a:p>
        </p:txBody>
      </p:sp>
      <p:sp>
        <p:nvSpPr>
          <p:cNvPr id="69" name="Text 66"/>
          <p:cNvSpPr txBox="1"/>
          <p:nvPr/>
        </p:nvSpPr>
        <p:spPr>
          <a:xfrm>
            <a:off x="9619488" y="427024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9619488" y="4590288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Logs · Metrics</a:t>
            </a:r>
            <a:endParaRPr lang="en-US" sz="740" dirty="0"/>
          </a:p>
        </p:txBody>
      </p:sp>
      <p:sp>
        <p:nvSpPr>
          <p:cNvPr id="71" name="Shape 68"/>
          <p:cNvSpPr/>
          <p:nvPr/>
        </p:nvSpPr>
        <p:spPr>
          <a:xfrm>
            <a:off x="566928" y="5468112"/>
            <a:ext cx="11018520" cy="42062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804672" y="5559552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TIP  현재 시스템은 실선 · 목표/후보 시스템은 점선 · 외부 소유 시스템은 Rose 테두리로 구분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 카탈로그 ② 코드·데이터·운영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 구조, 데이터 이동, 운영 상태를 같은 시각 언어로 묶는다.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3429000" cy="1874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B1220">
                <a:alpha val="1.2e+9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1600200"/>
            <a:ext cx="73152" cy="18745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1801368"/>
            <a:ext cx="429768" cy="429768"/>
          </a:xfrm>
          <a:prstGeom prst="roundRect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1783080"/>
            <a:ext cx="2459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 트리</a:t>
            </a:r>
            <a:endParaRPr lang="en-US" sz="123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304288"/>
            <a:ext cx="2916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930" dirty="0"/>
          </a:p>
        </p:txBody>
      </p:sp>
      <p:sp>
        <p:nvSpPr>
          <p:cNvPr id="17" name="Text 14"/>
          <p:cNvSpPr txBox="1"/>
          <p:nvPr/>
        </p:nvSpPr>
        <p:spPr>
          <a:xfrm>
            <a:off x="850392" y="2258568"/>
            <a:ext cx="2761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B1220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src/</a:t>
            </a:r>
            <a:endParaRPr lang="en-US" sz="770" dirty="0"/>
          </a:p>
        </p:txBody>
      </p:sp>
      <p:sp>
        <p:nvSpPr>
          <p:cNvPr id="18" name="Text 15"/>
          <p:cNvSpPr txBox="1"/>
          <p:nvPr/>
        </p:nvSpPr>
        <p:spPr>
          <a:xfrm>
            <a:off x="850392" y="2468880"/>
            <a:ext cx="2761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 build/   빌드 오케스트레이션</a:t>
            </a:r>
            <a:endParaRPr lang="en-US" sz="770" dirty="0"/>
          </a:p>
        </p:txBody>
      </p:sp>
      <p:sp>
        <p:nvSpPr>
          <p:cNvPr id="19" name="Text 16"/>
          <p:cNvSpPr txBox="1"/>
          <p:nvPr/>
        </p:nvSpPr>
        <p:spPr>
          <a:xfrm>
            <a:off x="850392" y="2679192"/>
            <a:ext cx="2761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 runtime/ 브라우저 컨트롤러</a:t>
            </a:r>
            <a:endParaRPr lang="en-US" sz="770" dirty="0"/>
          </a:p>
        </p:txBody>
      </p:sp>
      <p:sp>
        <p:nvSpPr>
          <p:cNvPr id="20" name="Text 17"/>
          <p:cNvSpPr txBox="1"/>
          <p:nvPr/>
        </p:nvSpPr>
        <p:spPr>
          <a:xfrm>
            <a:off x="850392" y="2889504"/>
            <a:ext cx="2761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 cli.ts   명령 진입점</a:t>
            </a:r>
            <a:endParaRPr lang="en-US" sz="770" dirty="0"/>
          </a:p>
        </p:txBody>
      </p:sp>
      <p:sp>
        <p:nvSpPr>
          <p:cNvPr id="21" name="Text 18"/>
          <p:cNvSpPr txBox="1"/>
          <p:nvPr/>
        </p:nvSpPr>
        <p:spPr>
          <a:xfrm>
            <a:off x="850392" y="3099816"/>
            <a:ext cx="2761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└─ config.ts 설정 검증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4242816" y="1600200"/>
            <a:ext cx="3429000" cy="1874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B1220">
                <a:alpha val="1.2e+104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42816" y="1600200"/>
            <a:ext cx="73152" cy="18745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62272" y="1801368"/>
            <a:ext cx="429768" cy="429768"/>
          </a:xfrm>
          <a:prstGeom prst="round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89704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</a:t>
            </a:r>
            <a:endParaRPr lang="en-US" sz="1020" dirty="0"/>
          </a:p>
        </p:txBody>
      </p:sp>
      <p:sp>
        <p:nvSpPr>
          <p:cNvPr id="26" name="Text 23"/>
          <p:cNvSpPr txBox="1"/>
          <p:nvPr/>
        </p:nvSpPr>
        <p:spPr>
          <a:xfrm>
            <a:off x="5010912" y="1783080"/>
            <a:ext cx="2459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오브젝트</a:t>
            </a:r>
            <a:endParaRPr lang="en-US" sz="1230" dirty="0"/>
          </a:p>
        </p:txBody>
      </p:sp>
      <p:sp>
        <p:nvSpPr>
          <p:cNvPr id="27" name="Text 24"/>
          <p:cNvSpPr txBox="1"/>
          <p:nvPr/>
        </p:nvSpPr>
        <p:spPr>
          <a:xfrm>
            <a:off x="4498848" y="2304288"/>
            <a:ext cx="2916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그래프 · 경로 · 메타데이터</a:t>
            </a:r>
            <a:endParaRPr lang="en-US" sz="930" dirty="0"/>
          </a:p>
          <a:p>
            <a:pPr algn="l" indent="0" marL="0">
              <a:buNone/>
            </a:pP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Cache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소스·렌더링·출력 해시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7918704" y="1600200"/>
            <a:ext cx="3666744" cy="1874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B1220">
                <a:alpha val="1.2e+109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18704" y="1600200"/>
            <a:ext cx="73152" cy="1874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38160" y="1801368"/>
            <a:ext cx="429768" cy="429768"/>
          </a:xfrm>
          <a:prstGeom prst="round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65592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OPS</a:t>
            </a:r>
            <a:endParaRPr lang="en-US" sz="102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178308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상태</a:t>
            </a:r>
            <a:endParaRPr lang="en-US" sz="1230" dirty="0"/>
          </a:p>
        </p:txBody>
      </p:sp>
      <p:sp>
        <p:nvSpPr>
          <p:cNvPr id="33" name="Text 30"/>
          <p:cNvSpPr txBox="1"/>
          <p:nvPr/>
        </p:nvSpPr>
        <p:spPr>
          <a:xfrm>
            <a:off x="8174736" y="2304288"/>
            <a:ext cx="3154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  정상 범위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WARN  임계치 접근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  배포 차단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ROLLBACK  이전 정상본 복구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66928" y="3858768"/>
            <a:ext cx="2496312" cy="859536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9808" y="4123944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97280" y="40233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</a:t>
            </a:r>
            <a:endParaRPr lang="en-US" sz="1030" dirty="0"/>
          </a:p>
        </p:txBody>
      </p:sp>
      <p:sp>
        <p:nvSpPr>
          <p:cNvPr id="37" name="Text 34"/>
          <p:cNvSpPr txBox="1"/>
          <p:nvPr/>
        </p:nvSpPr>
        <p:spPr>
          <a:xfrm>
            <a:off x="1636776" y="40325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통과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346704" y="3858768"/>
            <a:ext cx="2496312" cy="85953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529584" y="412394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877056" y="40233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</a:t>
            </a:r>
            <a:endParaRPr lang="en-US" sz="103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40325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재시도/대기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126480" y="3858768"/>
            <a:ext cx="2496312" cy="859536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09360" y="4123944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56832" y="40233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</a:t>
            </a:r>
            <a:endParaRPr lang="en-US" sz="1030" dirty="0"/>
          </a:p>
        </p:txBody>
      </p:sp>
      <p:sp>
        <p:nvSpPr>
          <p:cNvPr id="45" name="Text 42"/>
          <p:cNvSpPr txBox="1"/>
          <p:nvPr/>
        </p:nvSpPr>
        <p:spPr>
          <a:xfrm>
            <a:off x="7196328" y="40325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게이트 차단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8906256" y="3858768"/>
            <a:ext cx="2496312" cy="85953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089136" y="412394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436608" y="40233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</a:t>
            </a:r>
            <a:endParaRPr lang="en-US" sz="1030" dirty="0"/>
          </a:p>
        </p:txBody>
      </p:sp>
      <p:sp>
        <p:nvSpPr>
          <p:cNvPr id="49" name="Text 46"/>
          <p:cNvSpPr txBox="1"/>
          <p:nvPr/>
        </p:nvSpPr>
        <p:spPr>
          <a:xfrm>
            <a:off x="9976104" y="40325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버전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66928" y="5029200"/>
            <a:ext cx="1874520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8368" y="50566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 목적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2441448" y="5029200"/>
            <a:ext cx="2267712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532888" y="50566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4709160" y="5029200"/>
            <a:ext cx="2267712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800600" y="50566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6976872" y="5029200"/>
            <a:ext cx="2267712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68312" y="50566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9244584" y="5029200"/>
            <a:ext cx="2340864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336024" y="505663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566928" y="5504688"/>
            <a:ext cx="18745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58368" y="5532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요소</a:t>
            </a:r>
            <a:endParaRPr lang="en-US" sz="810" dirty="0"/>
          </a:p>
        </p:txBody>
      </p:sp>
      <p:sp>
        <p:nvSpPr>
          <p:cNvPr id="62" name="Shape 59"/>
          <p:cNvSpPr/>
          <p:nvPr/>
        </p:nvSpPr>
        <p:spPr>
          <a:xfrm>
            <a:off x="2441448" y="5504688"/>
            <a:ext cx="226771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532888" y="55321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트리·모듈 카드</a:t>
            </a:r>
            <a:endParaRPr lang="en-US" sz="810" dirty="0"/>
          </a:p>
        </p:txBody>
      </p:sp>
      <p:sp>
        <p:nvSpPr>
          <p:cNvPr id="64" name="Shape 61"/>
          <p:cNvSpPr/>
          <p:nvPr/>
        </p:nvSpPr>
        <p:spPr>
          <a:xfrm>
            <a:off x="4709160" y="5504688"/>
            <a:ext cx="226771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800600" y="55321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흐름·시퀀스</a:t>
            </a:r>
            <a:endParaRPr lang="en-US" sz="810" dirty="0"/>
          </a:p>
        </p:txBody>
      </p:sp>
      <p:sp>
        <p:nvSpPr>
          <p:cNvPr id="66" name="Shape 63"/>
          <p:cNvSpPr/>
          <p:nvPr/>
        </p:nvSpPr>
        <p:spPr>
          <a:xfrm>
            <a:off x="6976872" y="5504688"/>
            <a:ext cx="226771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068312" y="55321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배지·임계치</a:t>
            </a:r>
            <a:endParaRPr lang="en-US" sz="810" dirty="0"/>
          </a:p>
        </p:txBody>
      </p:sp>
      <p:sp>
        <p:nvSpPr>
          <p:cNvPr id="68" name="Shape 65"/>
          <p:cNvSpPr/>
          <p:nvPr/>
        </p:nvSpPr>
        <p:spPr>
          <a:xfrm>
            <a:off x="9244584" y="5504688"/>
            <a:ext cx="234086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336024" y="55321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비교표·ADR</a:t>
            </a:r>
            <a:endParaRPr lang="en-US" sz="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연결선의 의미를 먼저 고정한다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 스타일이 통신 계약과 실패 의미를 대신 설명한다.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63624"/>
            <a:ext cx="110185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916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 요청/응답</a:t>
            </a:r>
            <a:endParaRPr lang="en-US" sz="97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169164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 · REST · gRPC · timeout 필수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800600" y="1655064"/>
            <a:ext cx="283464" cy="2834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1655064"/>
            <a:ext cx="283464" cy="2834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4920" y="1801368"/>
            <a:ext cx="58795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077456" y="1600200"/>
            <a:ext cx="1965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77456" y="16093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 /orders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566928" y="2386584"/>
            <a:ext cx="110185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25146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 이벤트</a:t>
            </a:r>
            <a:endParaRPr lang="en-US" sz="970" dirty="0"/>
          </a:p>
        </p:txBody>
      </p:sp>
      <p:sp>
        <p:nvSpPr>
          <p:cNvPr id="21" name="Text 18"/>
          <p:cNvSpPr txBox="1"/>
          <p:nvPr/>
        </p:nvSpPr>
        <p:spPr>
          <a:xfrm>
            <a:off x="2331720" y="251460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at-least-once · idempotency · DLQ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4800600" y="2478024"/>
            <a:ext cx="283464" cy="2834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2478024"/>
            <a:ext cx="283464" cy="2834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74920" y="2624328"/>
            <a:ext cx="5879592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077456" y="2423160"/>
            <a:ext cx="1965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77456" y="24323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OrderCreated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566928" y="3209544"/>
            <a:ext cx="110185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33375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데이터/아티팩트</a:t>
            </a:r>
            <a:endParaRPr lang="en-US" sz="97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33756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· 빌드 산출물 · 복제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4800600" y="3300984"/>
            <a:ext cx="283464" cy="2834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954512" y="3300984"/>
            <a:ext cx="283464" cy="2834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74920" y="3447288"/>
            <a:ext cx="5879592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077456" y="3246120"/>
            <a:ext cx="1965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077456" y="32552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validated artifact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66928" y="4032504"/>
            <a:ext cx="110185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41605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실패/보상 경로</a:t>
            </a:r>
            <a:endParaRPr lang="en-US" sz="970" dirty="0"/>
          </a:p>
        </p:txBody>
      </p:sp>
      <p:sp>
        <p:nvSpPr>
          <p:cNvPr id="37" name="Text 34"/>
          <p:cNvSpPr txBox="1"/>
          <p:nvPr/>
        </p:nvSpPr>
        <p:spPr>
          <a:xfrm>
            <a:off x="2331720" y="416052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rollback · retry · circuit open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4800600" y="4123944"/>
            <a:ext cx="283464" cy="28346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954512" y="4123944"/>
            <a:ext cx="283464" cy="28346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74920" y="4270248"/>
            <a:ext cx="5879592" cy="0"/>
          </a:xfrm>
          <a:prstGeom prst="line">
            <a:avLst/>
          </a:prstGeom>
          <a:noFill/>
          <a:ln w="2286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077456" y="4069080"/>
            <a:ext cx="1965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077456" y="40782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restore previous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566928" y="4855464"/>
            <a:ext cx="1101852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2960" y="49834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관측/제어 신호</a:t>
            </a:r>
            <a:endParaRPr lang="en-US" sz="970" dirty="0"/>
          </a:p>
        </p:txBody>
      </p:sp>
      <p:sp>
        <p:nvSpPr>
          <p:cNvPr id="45" name="Text 42"/>
          <p:cNvSpPr txBox="1"/>
          <p:nvPr/>
        </p:nvSpPr>
        <p:spPr>
          <a:xfrm>
            <a:off x="2331720" y="498348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logs · metrics · policy decision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4800600" y="4946904"/>
            <a:ext cx="283464" cy="28346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954512" y="4946904"/>
            <a:ext cx="283464" cy="28346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74920" y="5093208"/>
            <a:ext cx="5879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7077456" y="4892040"/>
            <a:ext cx="1965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77456" y="4901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 + alert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8851392" y="1115568"/>
            <a:ext cx="2734056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997696" y="117957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방향 · 라벨 · 프로토콜 · 실패 조건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 템플릿 카탈로그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목적에 맞는 레이아웃을 고르면 정보 밀도가 자동으로 정리된다.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91056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B1220">
                <a:alpha val="1.1999999999999999e+11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737360"/>
            <a:ext cx="2203704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066544"/>
            <a:ext cx="621792" cy="621792"/>
          </a:xfrm>
          <a:prstGeom prst="roundRect">
            <a:avLst/>
          </a:prstGeom>
          <a:solidFill>
            <a:srgbClr val="2563EB">
              <a:alpha val="18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2066544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2340864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" y="2167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7523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</a:t>
            </a:r>
            <a:endParaRPr lang="en-US" sz="870" dirty="0"/>
          </a:p>
        </p:txBody>
      </p:sp>
      <p:sp>
        <p:nvSpPr>
          <p:cNvPr id="18" name="Text 15"/>
          <p:cNvSpPr txBox="1"/>
          <p:nvPr/>
        </p:nvSpPr>
        <p:spPr>
          <a:xfrm>
            <a:off x="1618488" y="27523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요약·지표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346704" y="1591056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B1220">
                <a:alpha val="1.1999999999999998e+119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93008" y="1737360"/>
            <a:ext cx="2203704" cy="173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93008" y="2066544"/>
            <a:ext cx="621792" cy="621792"/>
          </a:xfrm>
          <a:prstGeom prst="roundRect">
            <a:avLst/>
          </a:prstGeom>
          <a:solidFill>
            <a:srgbClr val="06B6D4">
              <a:alpha val="18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24528" y="2066544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24528" y="2340864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47872" y="2167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511296" y="27523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870" dirty="0"/>
          </a:p>
        </p:txBody>
      </p:sp>
      <p:sp>
        <p:nvSpPr>
          <p:cNvPr id="26" name="Text 23"/>
          <p:cNvSpPr txBox="1"/>
          <p:nvPr/>
        </p:nvSpPr>
        <p:spPr>
          <a:xfrm>
            <a:off x="4398264" y="27523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경계·사용자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126480" y="1591056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B1220">
                <a:alpha val="1.1999999999999998e+124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72784" y="1737360"/>
            <a:ext cx="2203704" cy="1737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72784" y="2066544"/>
            <a:ext cx="621792" cy="621792"/>
          </a:xfrm>
          <a:prstGeom prst="roundRect">
            <a:avLst/>
          </a:prstGeom>
          <a:solidFill>
            <a:srgbClr val="10B981">
              <a:alpha val="18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04304" y="2066544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04304" y="2340864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27648" y="2167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291072" y="27523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</a:t>
            </a:r>
            <a:endParaRPr lang="en-US" sz="87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27523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단계·게이트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906256" y="1591056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B1220">
                <a:alpha val="1.1999999999999998e+129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052560" y="1737360"/>
            <a:ext cx="2203704" cy="173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052560" y="2066544"/>
            <a:ext cx="621792" cy="621792"/>
          </a:xfrm>
          <a:prstGeom prst="roundRect">
            <a:avLst/>
          </a:prstGeom>
          <a:solidFill>
            <a:srgbClr val="7C3AED">
              <a:alpha val="18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84080" y="2066544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784080" y="2340864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07424" y="2167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9070848" y="27523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</a:t>
            </a:r>
            <a:endParaRPr lang="en-US" sz="870" dirty="0"/>
          </a:p>
        </p:txBody>
      </p:sp>
      <p:sp>
        <p:nvSpPr>
          <p:cNvPr id="42" name="Text 39"/>
          <p:cNvSpPr txBox="1"/>
          <p:nvPr/>
        </p:nvSpPr>
        <p:spPr>
          <a:xfrm>
            <a:off x="9957816" y="27523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시간순 호출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66928" y="3767328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B1220">
                <a:alpha val="1.1999999999999998e+134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3232" y="3913632"/>
            <a:ext cx="2203704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13232" y="4242816"/>
            <a:ext cx="621792" cy="621792"/>
          </a:xfrm>
          <a:prstGeom prst="roundRect">
            <a:avLst/>
          </a:prstGeom>
          <a:solidFill>
            <a:srgbClr val="2563EB">
              <a:alpha val="18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444752" y="4242816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44752" y="4517136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68096" y="4343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731520" y="4928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</a:t>
            </a:r>
            <a:endParaRPr lang="en-US" sz="870" dirty="0"/>
          </a:p>
        </p:txBody>
      </p:sp>
      <p:sp>
        <p:nvSpPr>
          <p:cNvPr id="50" name="Text 47"/>
          <p:cNvSpPr txBox="1"/>
          <p:nvPr/>
        </p:nvSpPr>
        <p:spPr>
          <a:xfrm>
            <a:off x="1618488" y="4928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소스·모듈 책임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3346704" y="3767328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B1220">
                <a:alpha val="1.1999999999999998e+139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493008" y="3913632"/>
            <a:ext cx="2203704" cy="1737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493008" y="4242816"/>
            <a:ext cx="621792" cy="621792"/>
          </a:xfrm>
          <a:prstGeom prst="roundRect">
            <a:avLst/>
          </a:prstGeom>
          <a:solidFill>
            <a:srgbClr val="F43F5E">
              <a:alpha val="18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224528" y="4242816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224528" y="4517136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547872" y="4343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3511296" y="4928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Failure</a:t>
            </a:r>
            <a:endParaRPr lang="en-US" sz="870" dirty="0"/>
          </a:p>
        </p:txBody>
      </p:sp>
      <p:sp>
        <p:nvSpPr>
          <p:cNvPr id="58" name="Text 55"/>
          <p:cNvSpPr txBox="1"/>
          <p:nvPr/>
        </p:nvSpPr>
        <p:spPr>
          <a:xfrm>
            <a:off x="4398264" y="4928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장애·복구 경로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6126480" y="3767328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B1220">
                <a:alpha val="1.1999999999999999e+144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272784" y="3913632"/>
            <a:ext cx="2203704" cy="173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272784" y="4242816"/>
            <a:ext cx="621792" cy="621792"/>
          </a:xfrm>
          <a:prstGeom prst="roundRect">
            <a:avLst/>
          </a:prstGeom>
          <a:solidFill>
            <a:srgbClr val="F59E0B">
              <a:alpha val="1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004304" y="4242816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04304" y="4517136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327648" y="4343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6291072" y="4928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Decision</a:t>
            </a:r>
            <a:endParaRPr lang="en-US" sz="870" dirty="0"/>
          </a:p>
        </p:txBody>
      </p:sp>
      <p:sp>
        <p:nvSpPr>
          <p:cNvPr id="66" name="Text 63"/>
          <p:cNvSpPr txBox="1"/>
          <p:nvPr/>
        </p:nvSpPr>
        <p:spPr>
          <a:xfrm>
            <a:off x="7178040" y="4928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대안·트레이드오프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8906256" y="3767328"/>
            <a:ext cx="2496312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B1220">
                <a:alpha val="1.1999999999999998e+149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9052560" y="3913632"/>
            <a:ext cx="2203704" cy="1737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052560" y="4242816"/>
            <a:ext cx="621792" cy="621792"/>
          </a:xfrm>
          <a:prstGeom prst="roundRect">
            <a:avLst/>
          </a:prstGeom>
          <a:solidFill>
            <a:srgbClr val="10B981">
              <a:alpha val="18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784080" y="4242816"/>
            <a:ext cx="1472184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784080" y="4517136"/>
            <a:ext cx="1115568" cy="137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107424" y="4343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070848" y="4928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Roadmap</a:t>
            </a:r>
            <a:endParaRPr lang="en-US" sz="870" dirty="0"/>
          </a:p>
        </p:txBody>
      </p:sp>
      <p:sp>
        <p:nvSpPr>
          <p:cNvPr id="74" name="Text 71"/>
          <p:cNvSpPr txBox="1"/>
          <p:nvPr/>
        </p:nvSpPr>
        <p:spPr>
          <a:xfrm>
            <a:off x="9957816" y="4928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단계·완료 조건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566928" y="5897880"/>
            <a:ext cx="11018520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49808" y="5961888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순서: Executive → Context → Flow/Sequence → Failure → Decision → Roadmap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909560" y="-1005840"/>
            <a:ext cx="5303520" cy="530352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0" y="3566160"/>
            <a:ext cx="3383280" cy="338328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640080"/>
            <a:ext cx="2304288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649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CURRENT · EIAM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353312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1298448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이슈 #44의 실제 아키텍처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719072" y="2862072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EIAM은 Markdown을 정적 사이트로 변환하는 Bun 기반 생성기다. 운영 시점에 요청을 처리하는 WAS는 없으며, 신뢰성은 빌드 트랜잭션·검증 게이트·불변 아티팩트·Cloudflare Pages 배포 계약에서 확보한다.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719072" y="4416552"/>
            <a:ext cx="6446520" cy="0"/>
          </a:xfrm>
          <a:prstGeom prst="line">
            <a:avLst/>
          </a:prstGeom>
          <a:solidFill>
            <a:srgbClr val="334155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19072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 원칙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816352" y="4590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 1개 · 흐름 방향 1개 · 예외 경로는 별도 색상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신뢰성은 ‘빌드 → 검증 → 전달’의 계약으로 만든다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Issue #44 · [epic][deployment] Make builds, hosting, and releases reliable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5266944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B1220">
                <a:alpha val="1.1999999999999998e+15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1600200"/>
            <a:ext cx="73152" cy="12344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1801368"/>
            <a:ext cx="429768" cy="429768"/>
          </a:xfrm>
          <a:prstGeom prst="roundRect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1783080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 output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4983480" y="1783080"/>
            <a:ext cx="640080" cy="21945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1792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</a:t>
            </a:r>
            <a:endParaRPr lang="en-US" sz="72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304288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staging에서 완성한 뒤 rename으로 교체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시 기존 dist 유지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126480" y="1600200"/>
            <a:ext cx="5266944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B1220">
                <a:alpha val="1.1999999999999998e+159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1600200"/>
            <a:ext cx="73152" cy="12344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45936" y="1801368"/>
            <a:ext cx="429768" cy="429768"/>
          </a:xfrm>
          <a:prstGeom prst="round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73368" y="1810512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PIN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6894576" y="1783080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Reproducible runtime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10543032" y="1783080"/>
            <a:ext cx="640080" cy="21945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634472" y="1792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720" dirty="0"/>
          </a:p>
        </p:txBody>
      </p:sp>
      <p:sp>
        <p:nvSpPr>
          <p:cNvPr id="26" name="Text 23"/>
          <p:cNvSpPr txBox="1"/>
          <p:nvPr/>
        </p:nvSpPr>
        <p:spPr>
          <a:xfrm>
            <a:off x="6382512" y="2304288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버전·잠금 파일·Mermaid 런타임 고정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입력은 동일 출력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66928" y="3090672"/>
            <a:ext cx="5266944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B1220">
                <a:alpha val="1.1999999999999998e+164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6928" y="3090672"/>
            <a:ext cx="73152" cy="12344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3291840"/>
            <a:ext cx="429768" cy="429768"/>
          </a:xfrm>
          <a:prstGeom prst="round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" y="3300984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</a:t>
            </a:r>
            <a:endParaRPr lang="en-US" sz="1020" dirty="0"/>
          </a:p>
        </p:txBody>
      </p:sp>
      <p:sp>
        <p:nvSpPr>
          <p:cNvPr id="31" name="Text 28"/>
          <p:cNvSpPr txBox="1"/>
          <p:nvPr/>
        </p:nvSpPr>
        <p:spPr>
          <a:xfrm>
            <a:off x="1335024" y="327355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 gate</a:t>
            </a:r>
            <a:endParaRPr lang="en-US" sz="1230" dirty="0"/>
          </a:p>
        </p:txBody>
      </p:sp>
      <p:sp>
        <p:nvSpPr>
          <p:cNvPr id="32" name="Shape 29"/>
          <p:cNvSpPr/>
          <p:nvPr/>
        </p:nvSpPr>
        <p:spPr>
          <a:xfrm>
            <a:off x="4983480" y="3273552"/>
            <a:ext cx="640080" cy="21945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GATE</a:t>
            </a:r>
            <a:endParaRPr lang="en-US" sz="72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79476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전에 그래프·참조·캐시·재현성 검증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실패한 산출물은 전달 금지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6126480" y="3090672"/>
            <a:ext cx="5266944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B1220">
                <a:alpha val="1.1999999999999998e+169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26480" y="3090672"/>
            <a:ext cx="73152" cy="12344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45936" y="3291840"/>
            <a:ext cx="429768" cy="429768"/>
          </a:xfrm>
          <a:prstGeom prst="roundRect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73368" y="3300984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894576" y="327355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Separated delivery</a:t>
            </a:r>
            <a:endParaRPr lang="en-US" sz="1230" dirty="0"/>
          </a:p>
        </p:txBody>
      </p:sp>
      <p:sp>
        <p:nvSpPr>
          <p:cNvPr id="40" name="Shape 37"/>
          <p:cNvSpPr/>
          <p:nvPr/>
        </p:nvSpPr>
        <p:spPr>
          <a:xfrm>
            <a:off x="10543032" y="3273552"/>
            <a:ext cx="640080" cy="21945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634472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DELIVERY</a:t>
            </a:r>
            <a:endParaRPr lang="en-US" sz="720" dirty="0"/>
          </a:p>
        </p:txBody>
      </p:sp>
      <p:sp>
        <p:nvSpPr>
          <p:cNvPr id="42" name="Text 39"/>
          <p:cNvSpPr txBox="1"/>
          <p:nvPr/>
        </p:nvSpPr>
        <p:spPr>
          <a:xfrm>
            <a:off x="6382512" y="379476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 패키지 릴리스와 사이트 배포 분리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job과 credential job 분리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566928" y="4773168"/>
            <a:ext cx="249631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1520" y="488289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731520" y="522122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병합된 세부 작업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346704" y="4773168"/>
            <a:ext cx="249631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511296" y="488289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3511296" y="522122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태그 릴리스 경로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6126480" y="4773168"/>
            <a:ext cx="249631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291072" y="488289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700" dirty="0"/>
          </a:p>
        </p:txBody>
      </p:sp>
      <p:sp>
        <p:nvSpPr>
          <p:cNvPr id="51" name="Text 48"/>
          <p:cNvSpPr txBox="1"/>
          <p:nvPr/>
        </p:nvSpPr>
        <p:spPr>
          <a:xfrm>
            <a:off x="6291072" y="522122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job 경계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906256" y="4773168"/>
            <a:ext cx="249631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070848" y="488289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9070848" y="522122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시점 WAS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566928" y="5760720"/>
            <a:ext cx="11018520" cy="39319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6384" y="5833872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 EIAM의 ‘서버 아키텍처’는 요청 처리 서버가 아니라 검증된 정적 산출물을 안전하게 생성·전달하는 공급망 아키텍처다.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컨텍스트: 요청 경로에는 WAS가 없다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구조 · Static Site Generator + Edge Hosting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743200"/>
            <a:ext cx="141732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B1220">
                <a:alpha val="1.1999999999999997e+17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2608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88036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작성자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320040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Markdown 편집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331720" y="2743200"/>
            <a:ext cx="16002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B1220">
                <a:alpha val="1.1999999999999996e+17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87168" y="292608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14600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044952" y="288036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Vault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044952" y="320040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notes + config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4224528" y="2743200"/>
            <a:ext cx="16002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B1220">
                <a:alpha val="1.1999999999999996e+184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79976" y="2926080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07408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288036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Build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937760" y="320040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· CI/local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6117336" y="2743200"/>
            <a:ext cx="16002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B1220">
                <a:alpha val="1.1999999999999995e+189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72784" y="292608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0216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830568" y="288036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Static Output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830568" y="320040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· JS · JSON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8010144" y="2743200"/>
            <a:ext cx="16002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B1220">
                <a:alpha val="1.1999999999999995e+194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165592" y="292608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93024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CDN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723376" y="288036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Cloudflare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723376" y="320040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 · Edge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9902952" y="2743200"/>
            <a:ext cx="141732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B1220">
                <a:alpha val="1.1999999999999994e+199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058400" y="292608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85832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616184" y="288036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독자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0616184" y="320040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Browser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2039112" y="3227832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874520" y="2980944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874520" y="2990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3931920" y="3227832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3767328" y="2980944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767328" y="2990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checkout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5824728" y="3227832"/>
            <a:ext cx="292608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660136" y="2980944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60136" y="2990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emit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7717536" y="3227832"/>
            <a:ext cx="292608" cy="0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7552944" y="2980944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552944" y="2990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</a:t>
            </a:r>
            <a:endParaRPr lang="en-US" sz="740" dirty="0"/>
          </a:p>
        </p:txBody>
      </p:sp>
      <p:sp>
        <p:nvSpPr>
          <p:cNvPr id="53" name="Shape 50"/>
          <p:cNvSpPr/>
          <p:nvPr/>
        </p:nvSpPr>
        <p:spPr>
          <a:xfrm>
            <a:off x="9610344" y="3227832"/>
            <a:ext cx="29260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445752" y="2980944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445752" y="2990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740" dirty="0"/>
          </a:p>
        </p:txBody>
      </p:sp>
      <p:sp>
        <p:nvSpPr>
          <p:cNvPr id="56" name="Shape 53"/>
          <p:cNvSpPr/>
          <p:nvPr/>
        </p:nvSpPr>
        <p:spPr>
          <a:xfrm>
            <a:off x="8010144" y="1591056"/>
            <a:ext cx="3310128" cy="8412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238744" y="1719072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요청 / 응답</a:t>
            </a:r>
            <a:endParaRPr lang="en-US" sz="1080" dirty="0"/>
          </a:p>
        </p:txBody>
      </p:sp>
      <p:sp>
        <p:nvSpPr>
          <p:cNvPr id="58" name="Text 55"/>
          <p:cNvSpPr txBox="1"/>
          <p:nvPr/>
        </p:nvSpPr>
        <p:spPr>
          <a:xfrm>
            <a:off x="8238744" y="201168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 → Edge cache/origin → static bytes</a:t>
            </a:r>
            <a:endParaRPr lang="en-US" sz="770" dirty="0"/>
          </a:p>
        </p:txBody>
      </p:sp>
      <p:sp>
        <p:nvSpPr>
          <p:cNvPr id="59" name="Shape 56"/>
          <p:cNvSpPr/>
          <p:nvPr/>
        </p:nvSpPr>
        <p:spPr>
          <a:xfrm>
            <a:off x="621792" y="4407408"/>
            <a:ext cx="7936992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41248" y="4599432"/>
            <a:ext cx="1024128" cy="27432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32688" y="460857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TIME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2020824" y="4535424"/>
            <a:ext cx="6172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프로세스가 문서를 읽고 그래프·HTML·런타임 자산·헤더를 생성한 뒤 종료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2020824" y="494690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 실패는 사용자 트래픽에 직접 전파되지 않으며, 마지막 정상 배포가 계속 서비스된다.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8814816" y="4407408"/>
            <a:ext cx="2770632" cy="1097280"/>
          </a:xfrm>
          <a:prstGeom prst="roundRect">
            <a:avLst/>
          </a:prstGeom>
          <a:solidFill>
            <a:srgbClr val="D1FAE5"/>
          </a:solidFill>
          <a:ln w="11430">
            <a:solidFill>
              <a:srgbClr val="10B981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070848" y="4572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9070848" y="4828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/ DB / Queue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9070848" y="51389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구성요소 아님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 경계를 나누면 배포 위험이 작아진다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 repo · Vault repo · Cloud edge · Reader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72768"/>
            <a:ext cx="2606040" cy="4114800"/>
          </a:xfrm>
          <a:prstGeom prst="roundRect">
            <a:avLst/>
          </a:prstGeom>
          <a:solidFill>
            <a:srgbClr val="EDE9FE">
              <a:alpha val="4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719072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Generator repo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374136" y="1572768"/>
            <a:ext cx="4005072" cy="4114800"/>
          </a:xfrm>
          <a:prstGeom prst="roundRect">
            <a:avLst/>
          </a:prstGeom>
          <a:solidFill>
            <a:srgbClr val="DBEAFE">
              <a:alpha val="4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38728" y="171907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Vault repo / CI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580376" y="1572768"/>
            <a:ext cx="2267712" cy="4114800"/>
          </a:xfrm>
          <a:prstGeom prst="roundRect">
            <a:avLst/>
          </a:prstGeom>
          <a:solidFill>
            <a:srgbClr val="CFFAFE">
              <a:alpha val="4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44968" y="17190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Cloud edge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10049256" y="1572768"/>
            <a:ext cx="1536192" cy="4114800"/>
          </a:xfrm>
          <a:prstGeom prst="roundRect">
            <a:avLst/>
          </a:prstGeom>
          <a:solidFill>
            <a:srgbClr val="D1FAE5">
              <a:alpha val="4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13848" y="17190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Reader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22960" y="2249424"/>
            <a:ext cx="209397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B1220">
                <a:alpha val="1.1999999999999994e+204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78408" y="2432304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5840" y="244144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536192" y="2386584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package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536192" y="2706624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version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822960" y="3867912"/>
            <a:ext cx="209397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4.579164822559364e+172" dist="2.289582411279682e+172" dir="2.1655341152926858e+202">
              <a:srgbClr val="0B1220">
                <a:alpha val="1.1999999999999994e+209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78408" y="4050792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405993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GHA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536192" y="4005072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Reusable workflow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536192" y="432511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commit/tag pinned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3639312" y="2121408"/>
            <a:ext cx="157276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5.815539324650392e+176" dist="2.907769662325196e+176" dir="1.2993204691756116e+207">
              <a:srgbClr val="0B1220">
                <a:alpha val="1.1999999999999993e+214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794760" y="2304288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22192" y="231343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352544" y="225856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Vault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352544" y="2578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content + config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5468112" y="2121408"/>
            <a:ext cx="16459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7.385734942305998e+180" dist="3.692867471152999e+180" dir="7.795922815053669e+211">
              <a:srgbClr val="0B1220">
                <a:alpha val="1.1999999999999994e+219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623560" y="2304288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50992" y="231343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181344" y="2258568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+ Validate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181344" y="257860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SECRETS</a:t>
            </a:r>
            <a:endParaRPr lang="en-US" sz="740" dirty="0"/>
          </a:p>
        </p:txBody>
      </p:sp>
      <p:sp>
        <p:nvSpPr>
          <p:cNvPr id="39" name="Shape 36"/>
          <p:cNvSpPr/>
          <p:nvPr/>
        </p:nvSpPr>
        <p:spPr>
          <a:xfrm>
            <a:off x="4416552" y="3941064"/>
            <a:ext cx="1810512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9.379883376728618e+184" dist="4.689941688364309e+184" dir="4.677553689032201e+216">
              <a:srgbClr val="0B1220">
                <a:alpha val="1.1999999999999994e+224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572000" y="4123944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99432" y="413308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5129784" y="4078224"/>
            <a:ext cx="969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artifact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129784" y="439826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immutable hand-off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7818120" y="2523744"/>
            <a:ext cx="180136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1.1912451888445345e+189" dist="5.956225944222673e+188" dir="2.806532213419321e+221">
              <a:srgbClr val="0B1220">
                <a:alpha val="1.1999999999999994e+229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973568" y="2706624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001000" y="27157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8531352" y="266090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 Deploy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531352" y="2980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credentialed job</a:t>
            </a:r>
            <a:endParaRPr lang="en-US" sz="740" dirty="0"/>
          </a:p>
        </p:txBody>
      </p:sp>
      <p:sp>
        <p:nvSpPr>
          <p:cNvPr id="49" name="Shape 46"/>
          <p:cNvSpPr/>
          <p:nvPr/>
        </p:nvSpPr>
        <p:spPr>
          <a:xfrm>
            <a:off x="10168128" y="2523744"/>
            <a:ext cx="127101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.5128813898325588e+193" dist="7.564406949162794e+192" dir="1.6839193280515925e+226">
              <a:srgbClr val="0B1220">
                <a:alpha val="1.1999999999999994e+234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323576" y="2706624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351008" y="27157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0881360" y="2660904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0881360" y="29809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2907792" y="2715768"/>
            <a:ext cx="73152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2953512" y="2450592"/>
            <a:ext cx="64008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2953512" y="2459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install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5212080" y="2606040"/>
            <a:ext cx="25603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291072" y="3090672"/>
            <a:ext cx="0" cy="850392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089904" y="3429000"/>
            <a:ext cx="69494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089904" y="34381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upload</a:t>
            </a:r>
            <a:endParaRPr lang="en-US" sz="740" dirty="0"/>
          </a:p>
        </p:txBody>
      </p:sp>
      <p:sp>
        <p:nvSpPr>
          <p:cNvPr id="61" name="Shape 58"/>
          <p:cNvSpPr/>
          <p:nvPr/>
        </p:nvSpPr>
        <p:spPr>
          <a:xfrm>
            <a:off x="6227064" y="4407408"/>
            <a:ext cx="1591056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6236208" y="4087368"/>
            <a:ext cx="157276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36208" y="4096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download exact bytes</a:t>
            </a:r>
            <a:endParaRPr lang="en-US" sz="740" dirty="0"/>
          </a:p>
        </p:txBody>
      </p:sp>
      <p:sp>
        <p:nvSpPr>
          <p:cNvPr id="64" name="Shape 61"/>
          <p:cNvSpPr/>
          <p:nvPr/>
        </p:nvSpPr>
        <p:spPr>
          <a:xfrm>
            <a:off x="9619488" y="3008376"/>
            <a:ext cx="548640" cy="0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9582912" y="2743200"/>
            <a:ext cx="62179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582912" y="27523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serve</a:t>
            </a:r>
            <a:endParaRPr lang="en-US" sz="740" dirty="0"/>
          </a:p>
        </p:txBody>
      </p:sp>
      <p:sp>
        <p:nvSpPr>
          <p:cNvPr id="67" name="Shape 64"/>
          <p:cNvSpPr/>
          <p:nvPr/>
        </p:nvSpPr>
        <p:spPr>
          <a:xfrm>
            <a:off x="3639312" y="5074920"/>
            <a:ext cx="3474720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803904" y="5157216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Cloudflare 자격 증명은 deploy job에서만 사용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빌드 파이프라인은 8개의 명시적 단계로 흐른다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src/build/pipeline.ts · buildSite(options)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2763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1837944"/>
            <a:ext cx="484632" cy="48463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84708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17647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Inspect</a:t>
            </a:r>
            <a:endParaRPr lang="en-US" sz="103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0665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출력·캐시 상태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안전성 확인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3063240" y="209397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346704" y="162763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9584" y="1837944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29584" y="184708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151376" y="17647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</a:t>
            </a:r>
            <a:endParaRPr lang="en-US" sz="1030" dirty="0"/>
          </a:p>
        </p:txBody>
      </p:sp>
      <p:sp>
        <p:nvSpPr>
          <p:cNvPr id="21" name="Text 18"/>
          <p:cNvSpPr txBox="1"/>
          <p:nvPr/>
        </p:nvSpPr>
        <p:spPr>
          <a:xfrm>
            <a:off x="4151376" y="20665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 문서 읽기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소스 계산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5843016" y="209397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26480" y="162763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1837944"/>
            <a:ext cx="484632" cy="4846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184708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931152" y="17647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Begin TX</a:t>
            </a:r>
            <a:endParaRPr lang="en-US" sz="103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20665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staging·backup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 생성</a:t>
            </a:r>
            <a:endParaRPr lang="en-US" sz="770" dirty="0"/>
          </a:p>
        </p:txBody>
      </p:sp>
      <p:sp>
        <p:nvSpPr>
          <p:cNvPr id="28" name="Shape 25"/>
          <p:cNvSpPr/>
          <p:nvPr/>
        </p:nvSpPr>
        <p:spPr>
          <a:xfrm>
            <a:off x="8622792" y="209397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906256" y="162763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89136" y="1837944"/>
            <a:ext cx="484632" cy="4846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89136" y="184708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9710928" y="17647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Prepare</a:t>
            </a:r>
            <a:endParaRPr lang="en-US" sz="1030" dirty="0"/>
          </a:p>
        </p:txBody>
      </p:sp>
      <p:sp>
        <p:nvSpPr>
          <p:cNvPr id="33" name="Text 30"/>
          <p:cNvSpPr txBox="1"/>
          <p:nvPr/>
        </p:nvSpPr>
        <p:spPr>
          <a:xfrm>
            <a:off x="9710928" y="20665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런타임 자산·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해시 계획</a:t>
            </a:r>
            <a:endParaRPr lang="en-US" sz="770" dirty="0"/>
          </a:p>
        </p:txBody>
      </p:sp>
      <p:sp>
        <p:nvSpPr>
          <p:cNvPr id="34" name="Shape 31"/>
          <p:cNvSpPr/>
          <p:nvPr/>
        </p:nvSpPr>
        <p:spPr>
          <a:xfrm>
            <a:off x="566928" y="350215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9808" y="3712464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9808" y="37216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3639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</a:t>
            </a:r>
            <a:endParaRPr lang="en-US" sz="1030" dirty="0"/>
          </a:p>
        </p:txBody>
      </p:sp>
      <p:sp>
        <p:nvSpPr>
          <p:cNvPr id="38" name="Text 35"/>
          <p:cNvSpPr txBox="1"/>
          <p:nvPr/>
        </p:nvSpPr>
        <p:spPr>
          <a:xfrm>
            <a:off x="1371600" y="394106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경로·링크·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 구성</a:t>
            </a:r>
            <a:endParaRPr lang="en-US" sz="770" dirty="0"/>
          </a:p>
        </p:txBody>
      </p:sp>
      <p:sp>
        <p:nvSpPr>
          <p:cNvPr id="39" name="Shape 36"/>
          <p:cNvSpPr/>
          <p:nvPr/>
        </p:nvSpPr>
        <p:spPr>
          <a:xfrm>
            <a:off x="3063240" y="396849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346704" y="350215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29584" y="3712464"/>
            <a:ext cx="484632" cy="4846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529584" y="37216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151376" y="3639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Render</a:t>
            </a:r>
            <a:endParaRPr lang="en-US" sz="1030" dirty="0"/>
          </a:p>
        </p:txBody>
      </p:sp>
      <p:sp>
        <p:nvSpPr>
          <p:cNvPr id="44" name="Text 41"/>
          <p:cNvSpPr txBox="1"/>
          <p:nvPr/>
        </p:nvSpPr>
        <p:spPr>
          <a:xfrm>
            <a:off x="4151376" y="394106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Markdown → HTML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증분 렌더링</a:t>
            </a:r>
            <a:endParaRPr lang="en-US" sz="770" dirty="0"/>
          </a:p>
        </p:txBody>
      </p:sp>
      <p:sp>
        <p:nvSpPr>
          <p:cNvPr id="45" name="Shape 42"/>
          <p:cNvSpPr/>
          <p:nvPr/>
        </p:nvSpPr>
        <p:spPr>
          <a:xfrm>
            <a:off x="5843016" y="396849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6126480" y="350215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09360" y="3712464"/>
            <a:ext cx="484632" cy="4846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09360" y="37216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931152" y="3639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Emit</a:t>
            </a:r>
            <a:endParaRPr lang="en-US" sz="1030" dirty="0"/>
          </a:p>
        </p:txBody>
      </p:sp>
      <p:sp>
        <p:nvSpPr>
          <p:cNvPr id="50" name="Text 47"/>
          <p:cNvSpPr txBox="1"/>
          <p:nvPr/>
        </p:nvSpPr>
        <p:spPr>
          <a:xfrm>
            <a:off x="6931152" y="394106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페이지·자산·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_headers 기록</a:t>
            </a:r>
            <a:endParaRPr lang="en-US" sz="770" dirty="0"/>
          </a:p>
        </p:txBody>
      </p:sp>
      <p:sp>
        <p:nvSpPr>
          <p:cNvPr id="51" name="Shape 48"/>
          <p:cNvSpPr/>
          <p:nvPr/>
        </p:nvSpPr>
        <p:spPr>
          <a:xfrm>
            <a:off x="8622792" y="3968496"/>
            <a:ext cx="2834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8906256" y="3502152"/>
            <a:ext cx="2496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089136" y="3712464"/>
            <a:ext cx="484632" cy="4846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089136" y="37216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9710928" y="3639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</a:t>
            </a:r>
            <a:endParaRPr lang="en-US" sz="1030" dirty="0"/>
          </a:p>
        </p:txBody>
      </p:sp>
      <p:sp>
        <p:nvSpPr>
          <p:cNvPr id="56" name="Text 53"/>
          <p:cNvSpPr txBox="1"/>
          <p:nvPr/>
        </p:nvSpPr>
        <p:spPr>
          <a:xfrm>
            <a:off x="9710928" y="394106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staged swap +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 저장</a:t>
            </a:r>
            <a:endParaRPr lang="en-US" sz="770" dirty="0"/>
          </a:p>
        </p:txBody>
      </p:sp>
      <p:sp>
        <p:nvSpPr>
          <p:cNvPr id="57" name="Shape 54"/>
          <p:cNvSpPr/>
          <p:nvPr/>
        </p:nvSpPr>
        <p:spPr>
          <a:xfrm>
            <a:off x="11420856" y="2560320"/>
            <a:ext cx="0" cy="94183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8906256" y="3502152"/>
            <a:ext cx="2514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triangle"/>
            <a:tailEnd type="none"/>
          </a:ln>
        </p:spPr>
      </p:sp>
      <p:sp>
        <p:nvSpPr>
          <p:cNvPr id="59" name="Shape 56"/>
          <p:cNvSpPr/>
          <p:nvPr/>
        </p:nvSpPr>
        <p:spPr>
          <a:xfrm>
            <a:off x="566928" y="5404104"/>
            <a:ext cx="11018520" cy="576072"/>
          </a:xfrm>
          <a:prstGeom prst="roundRect">
            <a:avLst/>
          </a:prstGeom>
          <a:solidFill>
            <a:srgbClr val="FFE4E6"/>
          </a:solidFill>
          <a:ln w="11430">
            <a:solidFill>
              <a:srgbClr val="F43F5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04672" y="556869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EXCEPTION</a:t>
            </a:r>
            <a:endParaRPr lang="en-US" sz="830" dirty="0"/>
          </a:p>
        </p:txBody>
      </p:sp>
      <p:sp>
        <p:nvSpPr>
          <p:cNvPr id="61" name="Text 58"/>
          <p:cNvSpPr txBox="1"/>
          <p:nvPr/>
        </p:nvSpPr>
        <p:spPr>
          <a:xfrm>
            <a:off x="1755648" y="5504688"/>
            <a:ext cx="9491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단계에서 실패해도 abort → staging 삭제 → 기존 output 보존 · 정리 자체가 실패하면 AggregateError로 원인 둘 다 보존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원자적 출력: 마지막 정상본을 손상시키지 않는다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 build · rename swap · backup restore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110185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600200"/>
            <a:ext cx="1024128" cy="1060704"/>
          </a:xfrm>
          <a:prstGeom prst="roundRect">
            <a:avLst/>
          </a:prstGeom>
          <a:solidFill>
            <a:srgbClr val="334155">
              <a:alpha val="12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" y="1783080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2834640"/>
            <a:ext cx="11018520" cy="1060704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2834640"/>
            <a:ext cx="1024128" cy="1060704"/>
          </a:xfrm>
          <a:prstGeom prst="round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" y="3017520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" y="4069080"/>
            <a:ext cx="11018520" cy="1060704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4069080"/>
            <a:ext cx="1024128" cy="1060704"/>
          </a:xfrm>
          <a:prstGeom prst="round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" y="4251960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810512" y="1691640"/>
            <a:ext cx="1783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sx="100000" sy="100000" kx="0" ky="0" algn="bl" rotWithShape="0" blurRad="1.9213593650873497e+197" dist="9.606796825436748e+196" dir="1.0103515968309554e+231">
              <a:srgbClr val="0B1220">
                <a:alpha val="1.1999999999999992e+239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965960" y="1874520"/>
            <a:ext cx="448056" cy="448056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93392" y="188366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</a:t>
            </a:r>
            <a:endParaRPr lang="en-US" sz="720" dirty="0"/>
          </a:p>
        </p:txBody>
      </p:sp>
      <p:sp>
        <p:nvSpPr>
          <p:cNvPr id="23" name="Text 20"/>
          <p:cNvSpPr txBox="1"/>
          <p:nvPr/>
        </p:nvSpPr>
        <p:spPr>
          <a:xfrm>
            <a:off x="2523744" y="1828800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output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14884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last known good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4654296" y="1691640"/>
            <a:ext cx="1883664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2.440126393660934e+201" dist="1.220063196830467e+201" dir="6.062109580985733e+235">
              <a:srgbClr val="0B1220">
                <a:alpha val="1.1999999999999992e+244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9744" y="1874520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37176" y="188366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STG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367528" y="1828800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367528" y="2148840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complete build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7772400" y="1691640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3.0989605199493864e+205" dist="1.5494802599746932e+205" dir="3.63726574859144e+240">
              <a:srgbClr val="0B1220">
                <a:alpha val="1.1999999999999991e+249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927848" y="187452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280" y="188366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IDX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485632" y="182880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cache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485632" y="2148840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 + source index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3593592" y="2176272"/>
            <a:ext cx="106070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694176" y="1865376"/>
            <a:ext cx="859536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94176" y="18745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copy/seed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6537960" y="2176272"/>
            <a:ext cx="1234440" cy="0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789420" y="1865376"/>
            <a:ext cx="73152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9420" y="1874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prepare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1810512" y="2990088"/>
            <a:ext cx="166420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938528" y="31638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2258568" y="310896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 → backup</a:t>
            </a:r>
            <a:endParaRPr lang="en-US" sz="830" dirty="0"/>
          </a:p>
        </p:txBody>
      </p:sp>
      <p:sp>
        <p:nvSpPr>
          <p:cNvPr id="44" name="Shape 41"/>
          <p:cNvSpPr/>
          <p:nvPr/>
        </p:nvSpPr>
        <p:spPr>
          <a:xfrm>
            <a:off x="3474720" y="3346704"/>
            <a:ext cx="105156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526280" y="2990088"/>
            <a:ext cx="166420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54296" y="31638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4974336" y="310896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 → output</a:t>
            </a:r>
            <a:endParaRPr lang="en-US" sz="830" dirty="0"/>
          </a:p>
        </p:txBody>
      </p:sp>
      <p:sp>
        <p:nvSpPr>
          <p:cNvPr id="48" name="Shape 45"/>
          <p:cNvSpPr/>
          <p:nvPr/>
        </p:nvSpPr>
        <p:spPr>
          <a:xfrm>
            <a:off x="6190488" y="3346704"/>
            <a:ext cx="1124712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7315200" y="2990088"/>
            <a:ext cx="166420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443216" y="31638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7763256" y="310896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 commit</a:t>
            </a:r>
            <a:endParaRPr lang="en-US" sz="830" dirty="0"/>
          </a:p>
        </p:txBody>
      </p:sp>
      <p:sp>
        <p:nvSpPr>
          <p:cNvPr id="52" name="Shape 49"/>
          <p:cNvSpPr/>
          <p:nvPr/>
        </p:nvSpPr>
        <p:spPr>
          <a:xfrm>
            <a:off x="8979408" y="3346704"/>
            <a:ext cx="667512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646920" y="2990088"/>
            <a:ext cx="166420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74936" y="316382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10094976" y="310896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backup 삭제</a:t>
            </a:r>
            <a:endParaRPr lang="en-US" sz="830" dirty="0"/>
          </a:p>
        </p:txBody>
      </p:sp>
      <p:sp>
        <p:nvSpPr>
          <p:cNvPr id="56" name="Shape 53"/>
          <p:cNvSpPr/>
          <p:nvPr/>
        </p:nvSpPr>
        <p:spPr>
          <a:xfrm>
            <a:off x="1810512" y="4224528"/>
            <a:ext cx="276148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002536" y="440740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빌드 실패</a:t>
            </a:r>
            <a:endParaRPr lang="en-US" sz="920" dirty="0"/>
          </a:p>
        </p:txBody>
      </p:sp>
      <p:sp>
        <p:nvSpPr>
          <p:cNvPr id="58" name="Text 55"/>
          <p:cNvSpPr txBox="1"/>
          <p:nvPr/>
        </p:nvSpPr>
        <p:spPr>
          <a:xfrm>
            <a:off x="2834640" y="4407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 삭제</a:t>
            </a:r>
            <a:endParaRPr lang="en-US" sz="880" dirty="0"/>
          </a:p>
        </p:txBody>
      </p:sp>
      <p:sp>
        <p:nvSpPr>
          <p:cNvPr id="59" name="Shape 56"/>
          <p:cNvSpPr/>
          <p:nvPr/>
        </p:nvSpPr>
        <p:spPr>
          <a:xfrm>
            <a:off x="4965192" y="4224528"/>
            <a:ext cx="276148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157216" y="440740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교체 실패</a:t>
            </a:r>
            <a:endParaRPr lang="en-US" sz="920" dirty="0"/>
          </a:p>
        </p:txBody>
      </p:sp>
      <p:sp>
        <p:nvSpPr>
          <p:cNvPr id="61" name="Text 58"/>
          <p:cNvSpPr txBox="1"/>
          <p:nvPr/>
        </p:nvSpPr>
        <p:spPr>
          <a:xfrm>
            <a:off x="5961888" y="440740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backup → output</a:t>
            </a:r>
            <a:endParaRPr lang="en-US" sz="880" dirty="0"/>
          </a:p>
        </p:txBody>
      </p:sp>
      <p:sp>
        <p:nvSpPr>
          <p:cNvPr id="62" name="Shape 59"/>
          <p:cNvSpPr/>
          <p:nvPr/>
        </p:nvSpPr>
        <p:spPr>
          <a:xfrm>
            <a:off x="8119872" y="4224528"/>
            <a:ext cx="246888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321040" y="440740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920" dirty="0"/>
          </a:p>
        </p:txBody>
      </p:sp>
      <p:sp>
        <p:nvSpPr>
          <p:cNvPr id="64" name="Text 61"/>
          <p:cNvSpPr txBox="1"/>
          <p:nvPr/>
        </p:nvSpPr>
        <p:spPr>
          <a:xfrm>
            <a:off x="8906256" y="4407408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정상본 유지</a:t>
            </a:r>
            <a:endParaRPr lang="en-US" sz="880" dirty="0"/>
          </a:p>
        </p:txBody>
      </p:sp>
      <p:sp>
        <p:nvSpPr>
          <p:cNvPr id="65" name="Shape 62"/>
          <p:cNvSpPr/>
          <p:nvPr/>
        </p:nvSpPr>
        <p:spPr>
          <a:xfrm>
            <a:off x="566928" y="5486400"/>
            <a:ext cx="11018520" cy="5212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86384" y="5577840"/>
            <a:ext cx="10561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guard  filesystem root · cwd · vault · cache와 겹치는 출력 경로를 거부하고, EIAM ownership marker가 없는 비어 있지 않은 폴더는 덮어쓰지 않는다.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가능성에 따라 캐시 정책을 분리한다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_headers · content-hashed runtime · self-hosted Mermaid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5340096" cy="4187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.9356798603357206e+209" dist="1.9678399301678603e+209" dir="2.182359449154864e+245">
              <a:srgbClr val="0B1220">
                <a:alpha val="1.1999999999999991e+25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36208" y="1600200"/>
            <a:ext cx="5349240" cy="418795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1874520"/>
            <a:ext cx="950976" cy="2743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1883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MUTABLE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2304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항상 재검증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2706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public, max-age=0, must-revalidate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877824" y="32004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313639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routes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77824" y="3621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3557016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manifest.json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77824" y="40416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397764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content fragments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877824" y="44622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88720" y="439826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sitemap / robots / SEO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877824" y="48828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88720" y="481888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copied stable-name files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528816" y="1874520"/>
            <a:ext cx="1097280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20256" y="1883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IMMUTABLE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6528816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해시 자산만 1년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528816" y="2706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4A3B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public, max-age=31536000, immutable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528816" y="3191256"/>
            <a:ext cx="4498848" cy="338328"/>
          </a:xfrm>
          <a:prstGeom prst="roundRect">
            <a:avLst/>
          </a:prstGeom>
          <a:solidFill>
            <a:srgbClr val="24324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28816" y="3191256"/>
            <a:ext cx="73152" cy="3383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784848" y="3246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app.&lt;hash&gt;.css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9546336" y="32461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path override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6528816" y="3675888"/>
            <a:ext cx="4498848" cy="338328"/>
          </a:xfrm>
          <a:prstGeom prst="roundRect">
            <a:avLst/>
          </a:prstGeom>
          <a:solidFill>
            <a:srgbClr val="24324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28816" y="3675888"/>
            <a:ext cx="73152" cy="3383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84848" y="3730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app.&lt;hash&gt;.js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9546336" y="37307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path override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528816" y="4160520"/>
            <a:ext cx="4498848" cy="338328"/>
          </a:xfrm>
          <a:prstGeom prst="roundRect">
            <a:avLst/>
          </a:prstGeom>
          <a:solidFill>
            <a:srgbClr val="24324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28816" y="4160520"/>
            <a:ext cx="73152" cy="33832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84848" y="42153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tree.&lt;hash&gt;.js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9546336" y="42153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path override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6528816" y="4645152"/>
            <a:ext cx="4498848" cy="338328"/>
          </a:xfrm>
          <a:prstGeom prst="roundRect">
            <a:avLst/>
          </a:prstGeom>
          <a:solidFill>
            <a:srgbClr val="24324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28816" y="4645152"/>
            <a:ext cx="73152" cy="33832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84848" y="47000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mermaid.&lt;hash&gt;.js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9546336" y="47000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path override</a:t>
            </a:r>
            <a:endParaRPr lang="en-US" sz="720" dirty="0"/>
          </a:p>
        </p:txBody>
      </p:sp>
      <p:sp>
        <p:nvSpPr>
          <p:cNvPr id="47" name="Text 44"/>
          <p:cNvSpPr txBox="1"/>
          <p:nvPr/>
        </p:nvSpPr>
        <p:spPr>
          <a:xfrm>
            <a:off x="6528816" y="53035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Mermaid runtime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7772400" y="5276088"/>
            <a:ext cx="3255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문서에 다이어그램이 있을 때만 번들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게이트를 통과한 바이트만 배포한다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scripts/validate-production.ts · machine-readable report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816352"/>
            <a:ext cx="166420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4.9983134226263654e+213" dist="2.4991567113131827e+213" dir="1.3094156694929184e+250">
              <a:srgbClr val="0B1220">
                <a:alpha val="1.1999999999999991e+2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9923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30083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CFG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95351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input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vault + config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286000" y="3291840"/>
            <a:ext cx="603504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852928" y="1645920"/>
            <a:ext cx="4645152" cy="3401568"/>
          </a:xfrm>
          <a:prstGeom prst="chevron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19272" y="1865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spc="11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VALIDATION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3264408" y="235915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74136" y="251460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3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244144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</a:t>
            </a:r>
            <a:endParaRPr lang="en-US" sz="83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264261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프로덕션 설정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138928" y="235915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48656" y="251460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3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244144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</a:t>
            </a:r>
            <a:endParaRPr lang="en-US" sz="830" dirty="0"/>
          </a:p>
        </p:txBody>
      </p:sp>
      <p:sp>
        <p:nvSpPr>
          <p:cNvPr id="26" name="Text 23"/>
          <p:cNvSpPr txBox="1"/>
          <p:nvPr/>
        </p:nvSpPr>
        <p:spPr>
          <a:xfrm>
            <a:off x="5532120" y="264261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 · routes</a:t>
            </a:r>
            <a:endParaRPr lang="en-US" sz="670" dirty="0"/>
          </a:p>
        </p:txBody>
      </p:sp>
      <p:sp>
        <p:nvSpPr>
          <p:cNvPr id="27" name="Shape 24"/>
          <p:cNvSpPr/>
          <p:nvPr/>
        </p:nvSpPr>
        <p:spPr>
          <a:xfrm>
            <a:off x="3264408" y="309067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74136" y="324612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3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317296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</a:t>
            </a:r>
            <a:endParaRPr lang="en-US" sz="830" dirty="0"/>
          </a:p>
        </p:txBody>
      </p:sp>
      <p:sp>
        <p:nvSpPr>
          <p:cNvPr id="30" name="Text 27"/>
          <p:cNvSpPr txBox="1"/>
          <p:nvPr/>
        </p:nvSpPr>
        <p:spPr>
          <a:xfrm>
            <a:off x="3657600" y="337413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HTML/CSS 참조</a:t>
            </a:r>
            <a:endParaRPr lang="en-US" sz="670" dirty="0"/>
          </a:p>
        </p:txBody>
      </p:sp>
      <p:sp>
        <p:nvSpPr>
          <p:cNvPr id="31" name="Shape 28"/>
          <p:cNvSpPr/>
          <p:nvPr/>
        </p:nvSpPr>
        <p:spPr>
          <a:xfrm>
            <a:off x="5138928" y="309067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324612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30" dirty="0"/>
          </a:p>
        </p:txBody>
      </p:sp>
      <p:sp>
        <p:nvSpPr>
          <p:cNvPr id="33" name="Text 30"/>
          <p:cNvSpPr txBox="1"/>
          <p:nvPr/>
        </p:nvSpPr>
        <p:spPr>
          <a:xfrm>
            <a:off x="5532120" y="317296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</a:t>
            </a:r>
            <a:endParaRPr lang="en-US" sz="830" dirty="0"/>
          </a:p>
        </p:txBody>
      </p:sp>
      <p:sp>
        <p:nvSpPr>
          <p:cNvPr id="34" name="Text 31"/>
          <p:cNvSpPr txBox="1"/>
          <p:nvPr/>
        </p:nvSpPr>
        <p:spPr>
          <a:xfrm>
            <a:off x="5532120" y="337413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_headers 계약</a:t>
            </a:r>
            <a:endParaRPr lang="en-US" sz="670" dirty="0"/>
          </a:p>
        </p:txBody>
      </p:sp>
      <p:sp>
        <p:nvSpPr>
          <p:cNvPr id="35" name="Shape 32"/>
          <p:cNvSpPr/>
          <p:nvPr/>
        </p:nvSpPr>
        <p:spPr>
          <a:xfrm>
            <a:off x="3264408" y="382219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374136" y="397764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30" dirty="0"/>
          </a:p>
        </p:txBody>
      </p:sp>
      <p:sp>
        <p:nvSpPr>
          <p:cNvPr id="37" name="Text 34"/>
          <p:cNvSpPr txBox="1"/>
          <p:nvPr/>
        </p:nvSpPr>
        <p:spPr>
          <a:xfrm>
            <a:off x="3657600" y="390448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Repeat</a:t>
            </a:r>
            <a:endParaRPr lang="en-US" sz="830" dirty="0"/>
          </a:p>
        </p:txBody>
      </p:sp>
      <p:sp>
        <p:nvSpPr>
          <p:cNvPr id="38" name="Text 35"/>
          <p:cNvSpPr txBox="1"/>
          <p:nvPr/>
        </p:nvSpPr>
        <p:spPr>
          <a:xfrm>
            <a:off x="3657600" y="41056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입력 재빌드</a:t>
            </a:r>
            <a:endParaRPr lang="en-US" sz="670" dirty="0"/>
          </a:p>
        </p:txBody>
      </p:sp>
      <p:sp>
        <p:nvSpPr>
          <p:cNvPr id="39" name="Shape 36"/>
          <p:cNvSpPr/>
          <p:nvPr/>
        </p:nvSpPr>
        <p:spPr>
          <a:xfrm>
            <a:off x="5138928" y="3822192"/>
            <a:ext cx="1572768" cy="530352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248656" y="3977640"/>
            <a:ext cx="24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30" dirty="0"/>
          </a:p>
        </p:txBody>
      </p:sp>
      <p:sp>
        <p:nvSpPr>
          <p:cNvPr id="41" name="Text 38"/>
          <p:cNvSpPr txBox="1"/>
          <p:nvPr/>
        </p:nvSpPr>
        <p:spPr>
          <a:xfrm>
            <a:off x="5532120" y="390448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Markdown</a:t>
            </a:r>
            <a:endParaRPr lang="en-US" sz="830" dirty="0"/>
          </a:p>
        </p:txBody>
      </p:sp>
      <p:sp>
        <p:nvSpPr>
          <p:cNvPr id="42" name="Text 39"/>
          <p:cNvSpPr txBox="1"/>
          <p:nvPr/>
        </p:nvSpPr>
        <p:spPr>
          <a:xfrm>
            <a:off x="5532120" y="4105656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baseline/exclude</a:t>
            </a:r>
            <a:endParaRPr lang="en-US" sz="670" dirty="0"/>
          </a:p>
        </p:txBody>
      </p:sp>
      <p:sp>
        <p:nvSpPr>
          <p:cNvPr id="43" name="Shape 40"/>
          <p:cNvSpPr/>
          <p:nvPr/>
        </p:nvSpPr>
        <p:spPr>
          <a:xfrm>
            <a:off x="7388352" y="3291840"/>
            <a:ext cx="658368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8046720" y="2103120"/>
            <a:ext cx="1783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6.347858046735484e+217" dist="3.173929023367742e+217" dir="7.85649401695751e+254">
              <a:srgbClr val="0B1220">
                <a:alpha val="1.199999999999999e+264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202168" y="228600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0" y="229514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</a:t>
            </a:r>
            <a:endParaRPr lang="en-US" sz="720" dirty="0"/>
          </a:p>
        </p:txBody>
      </p:sp>
      <p:sp>
        <p:nvSpPr>
          <p:cNvPr id="47" name="Text 44"/>
          <p:cNvSpPr txBox="1"/>
          <p:nvPr/>
        </p:nvSpPr>
        <p:spPr>
          <a:xfrm>
            <a:off x="8759952" y="2240280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Validated site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759952" y="25603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directory</a:t>
            </a:r>
            <a:endParaRPr lang="en-US" sz="740" dirty="0"/>
          </a:p>
        </p:txBody>
      </p:sp>
      <p:sp>
        <p:nvSpPr>
          <p:cNvPr id="49" name="Shape 46"/>
          <p:cNvSpPr/>
          <p:nvPr/>
        </p:nvSpPr>
        <p:spPr>
          <a:xfrm>
            <a:off x="8046720" y="3703320"/>
            <a:ext cx="1783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8.061779719354066e+221" dist="4.030889859677033e+221" dir="4.713896410174506e+259">
              <a:srgbClr val="0B1220">
                <a:alpha val="1.1999999999999991e+269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202168" y="388620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9600" y="389534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</a:t>
            </a:r>
            <a:endParaRPr lang="en-US" sz="720" dirty="0"/>
          </a:p>
        </p:txBody>
      </p:sp>
      <p:sp>
        <p:nvSpPr>
          <p:cNvPr id="52" name="Text 49"/>
          <p:cNvSpPr txBox="1"/>
          <p:nvPr/>
        </p:nvSpPr>
        <p:spPr>
          <a:xfrm>
            <a:off x="8759952" y="3840480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 report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8759952" y="41605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checks + failures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9829800" y="2578608"/>
            <a:ext cx="1060704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9925812" y="2276856"/>
            <a:ext cx="86868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925812" y="2286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 only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10890504" y="2103120"/>
            <a:ext cx="694944" cy="960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954512" y="2340864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</a:t>
            </a:r>
            <a:endParaRPr lang="en-US" sz="780" dirty="0"/>
          </a:p>
        </p:txBody>
      </p:sp>
      <p:sp>
        <p:nvSpPr>
          <p:cNvPr id="59" name="Text 56"/>
          <p:cNvSpPr txBox="1"/>
          <p:nvPr/>
        </p:nvSpPr>
        <p:spPr>
          <a:xfrm>
            <a:off x="10954512" y="2560320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ABLE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10058400" y="3703320"/>
            <a:ext cx="1527048" cy="96012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222992" y="389534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</a:t>
            </a:r>
            <a:endParaRPr lang="en-US" sz="1020" dirty="0"/>
          </a:p>
        </p:txBody>
      </p:sp>
      <p:sp>
        <p:nvSpPr>
          <p:cNvPr id="62" name="Text 59"/>
          <p:cNvSpPr txBox="1"/>
          <p:nvPr/>
        </p:nvSpPr>
        <p:spPr>
          <a:xfrm>
            <a:off x="10204704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차단 + 보고서 보존</a:t>
            </a:r>
            <a:endParaRPr lang="en-US" sz="720" dirty="0"/>
          </a:p>
        </p:txBody>
      </p:sp>
      <p:sp>
        <p:nvSpPr>
          <p:cNvPr id="63" name="Shape 60"/>
          <p:cNvSpPr/>
          <p:nvPr/>
        </p:nvSpPr>
        <p:spPr>
          <a:xfrm>
            <a:off x="9829800" y="4178808"/>
            <a:ext cx="228600" cy="0"/>
          </a:xfrm>
          <a:prstGeom prst="line">
            <a:avLst/>
          </a:prstGeom>
          <a:noFill/>
          <a:ln w="2032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621792" y="5413248"/>
            <a:ext cx="10963656" cy="539496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59536" y="55321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보고서 계약  schemaVersion · generatedAt · status · configuration · checks · failures · metrics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패키지 릴리스는 하나의 품질 경로만 가진다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tag → quality → verified tarball → npm + GitHub Release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72768"/>
            <a:ext cx="11018520" cy="18745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572768"/>
            <a:ext cx="1024128" cy="1874520"/>
          </a:xfrm>
          <a:prstGeom prst="round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" y="1755648"/>
            <a:ext cx="7680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3685032"/>
            <a:ext cx="11018520" cy="187452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3685032"/>
            <a:ext cx="1024128" cy="1874520"/>
          </a:xfrm>
          <a:prstGeom prst="round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" y="3867912"/>
            <a:ext cx="7680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737360" y="1993392"/>
            <a:ext cx="1572768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.0238460243579663e+226" dist="5.1192301217898315e+225" dir="2.8283378461047036e+264">
              <a:srgbClr val="0B1220">
                <a:alpha val="1.199999999999999e+27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92808" y="217627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920240" y="21854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TAG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450592" y="2130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tag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450592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vX.Y.Z = package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3310128" y="2468880"/>
            <a:ext cx="32918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639312" y="1993392"/>
            <a:ext cx="1572768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.3002844509346172e+230" dist="6.501422254673086e+229" dir="1.6970027076628222e+269">
              <a:srgbClr val="0B1220">
                <a:alpha val="1.199999999999999e+279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94760" y="2176272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22192" y="21854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352544" y="2130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Full quality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352544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lint · test · E2E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5212080" y="2468880"/>
            <a:ext cx="32918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541264" y="1993392"/>
            <a:ext cx="1572768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1.6513612526869638e+234" dist="8.256806263434819e+233" dir="1.0182016245976934e+274">
              <a:srgbClr val="0B1220">
                <a:alpha val="1.199999999999999e+284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96712" y="2176272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724144" y="21854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</a:t>
            </a:r>
            <a:endParaRPr lang="en-US" sz="720" dirty="0"/>
          </a:p>
        </p:txBody>
      </p:sp>
      <p:sp>
        <p:nvSpPr>
          <p:cNvPr id="32" name="Text 29"/>
          <p:cNvSpPr txBox="1"/>
          <p:nvPr/>
        </p:nvSpPr>
        <p:spPr>
          <a:xfrm>
            <a:off x="6254496" y="2130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pm pack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254496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one npm tarball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7114032" y="2468880"/>
            <a:ext cx="32918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443216" y="1993392"/>
            <a:ext cx="1572768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2.097228790912444e+238" dist="1.048614395456222e+238" dir="6.10920974758616e+278">
              <a:srgbClr val="0B1220">
                <a:alpha val="1.199999999999999e+289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598664" y="2176272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26096" y="21854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</a:t>
            </a:r>
            <a:endParaRPr lang="en-US" sz="720" dirty="0"/>
          </a:p>
        </p:txBody>
      </p:sp>
      <p:sp>
        <p:nvSpPr>
          <p:cNvPr id="38" name="Text 35"/>
          <p:cNvSpPr txBox="1"/>
          <p:nvPr/>
        </p:nvSpPr>
        <p:spPr>
          <a:xfrm>
            <a:off x="8156448" y="2130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 identity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8156448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SRI + SHA-256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9015984" y="2468880"/>
            <a:ext cx="32918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345168" y="1993392"/>
            <a:ext cx="1572768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2.663480564458804e+242" dist="1.331740282229402e+242" dir="3.6655258485516963e+283">
              <a:srgbClr val="0B1220">
                <a:alpha val="1.199999999999999e+294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500616" y="217627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528048" y="21854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0058400" y="2130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Transfer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10058400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verified artifact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2048256" y="4105656"/>
            <a:ext cx="1865376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3.3826203168626813e+246" dist="1.6913101584313407e+246" dir="2.1993155091310177e+288">
              <a:srgbClr val="0B1220">
                <a:alpha val="1.199999999999999e+299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2203704" y="428853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231136" y="42976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2761488" y="424281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Download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2761488" y="45628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same artifact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3913632" y="4581144"/>
            <a:ext cx="466344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4379976" y="4105656"/>
            <a:ext cx="1865376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4.295927802415605e+250" dist="2.1479639012078026e+250" dir="1.3195893054786106e+293">
              <a:srgbClr val="0B1220">
                <a:alpha val="1.199999999999999e+304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535424" y="4288536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562856" y="42976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VERIFY</a:t>
            </a:r>
            <a:endParaRPr lang="en-US" sz="720" dirty="0"/>
          </a:p>
        </p:txBody>
      </p:sp>
      <p:sp>
        <p:nvSpPr>
          <p:cNvPr id="55" name="Text 52"/>
          <p:cNvSpPr txBox="1"/>
          <p:nvPr/>
        </p:nvSpPr>
        <p:spPr>
          <a:xfrm>
            <a:off x="5093208" y="424281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Verify bytes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5093208" y="45628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identity + integrity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6245352" y="4581144"/>
            <a:ext cx="466344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711696" y="4105656"/>
            <a:ext cx="1865376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5.455828309067819e+254" dist="2.7279141545339093e+254" dir="7.917535832871664e+297">
              <a:srgbClr val="0B1220">
                <a:alpha val="Infinity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867144" y="428853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894576" y="42976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7424928" y="424281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Publish/reconcile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7424928" y="45628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package</a:t>
            </a:r>
            <a:endParaRPr lang="en-US" sz="740" dirty="0"/>
          </a:p>
        </p:txBody>
      </p:sp>
      <p:sp>
        <p:nvSpPr>
          <p:cNvPr id="63" name="Shape 60"/>
          <p:cNvSpPr/>
          <p:nvPr/>
        </p:nvSpPr>
        <p:spPr>
          <a:xfrm>
            <a:off x="8577072" y="4581144"/>
            <a:ext cx="466344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9043416" y="4105656"/>
            <a:ext cx="1865376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6.928901952516129e+258" dist="3.4644509762580647e+258" dir="4.750521499722998e+302">
              <a:srgbClr val="0B1220">
                <a:alpha val="Infinity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9198864" y="4288536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226296" y="42976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GH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9756648" y="424281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Release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9756648" y="45628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same tag</a:t>
            </a:r>
            <a:endParaRPr lang="en-US" sz="740" dirty="0"/>
          </a:p>
        </p:txBody>
      </p:sp>
      <p:sp>
        <p:nvSpPr>
          <p:cNvPr id="69" name="Shape 66"/>
          <p:cNvSpPr/>
          <p:nvPr/>
        </p:nvSpPr>
        <p:spPr>
          <a:xfrm>
            <a:off x="10908792" y="2935224"/>
            <a:ext cx="0" cy="1170432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9902952" y="3319272"/>
            <a:ext cx="123444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902952" y="33284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 hand-off</a:t>
            </a:r>
            <a:endParaRPr lang="en-US" sz="740" dirty="0"/>
          </a:p>
        </p:txBody>
      </p:sp>
      <p:sp>
        <p:nvSpPr>
          <p:cNvPr id="72" name="Shape 69"/>
          <p:cNvSpPr/>
          <p:nvPr/>
        </p:nvSpPr>
        <p:spPr>
          <a:xfrm>
            <a:off x="841248" y="2953512"/>
            <a:ext cx="1764792" cy="27432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D1FAE5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32688" y="296265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PUBLISH CREDENTIAL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41248" y="5138928"/>
            <a:ext cx="1764792" cy="27432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32688" y="514807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NPM_TOKEN ONLY HERE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Cloudflare 배포는 비밀 없는 검증 job과 분리한다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Reusable workflow · artifact-only · preview · production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81912"/>
            <a:ext cx="5248656" cy="42245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8.799705479695485e+262" dist="4.3998527398477425e+262" dir="2.850312899833799e+307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17336" y="1581912"/>
            <a:ext cx="5468112" cy="422452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1810512"/>
            <a:ext cx="1719072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181965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1 · BUILD-VALIDATE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91656" y="1810512"/>
            <a:ext cx="1307592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83096" y="181965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2 · DEPLOY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41248" y="2322576"/>
            <a:ext cx="47091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4128" y="2532888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4128" y="254203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2459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입력/브랜치 검증</a:t>
            </a:r>
            <a:endParaRPr lang="en-US" sz="103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27614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path overlap · fork guard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841248" y="3044952"/>
            <a:ext cx="47091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4128" y="3255264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24128" y="32644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Frozen install</a:t>
            </a:r>
            <a:endParaRPr lang="en-US" sz="1030" dirty="0"/>
          </a:p>
        </p:txBody>
      </p:sp>
      <p:sp>
        <p:nvSpPr>
          <p:cNvPr id="26" name="Text 23"/>
          <p:cNvSpPr txBox="1"/>
          <p:nvPr/>
        </p:nvSpPr>
        <p:spPr>
          <a:xfrm>
            <a:off x="1645920" y="3483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caller-pinned Bun + lock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841248" y="3767328"/>
            <a:ext cx="47091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" y="3977640"/>
            <a:ext cx="484632" cy="4846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4128" y="3986784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64592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+ production validation</a:t>
            </a:r>
            <a:endParaRPr lang="en-US" sz="1030" dirty="0"/>
          </a:p>
        </p:txBody>
      </p:sp>
      <p:sp>
        <p:nvSpPr>
          <p:cNvPr id="31" name="Text 28"/>
          <p:cNvSpPr txBox="1"/>
          <p:nvPr/>
        </p:nvSpPr>
        <p:spPr>
          <a:xfrm>
            <a:off x="1645920" y="4206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CLOUDFLARE SECRETS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841248" y="4489704"/>
            <a:ext cx="47091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24128" y="4700016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24128" y="470916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645920" y="4626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 upload</a:t>
            </a:r>
            <a:endParaRPr lang="en-US" sz="1030" dirty="0"/>
          </a:p>
        </p:txBody>
      </p:sp>
      <p:sp>
        <p:nvSpPr>
          <p:cNvPr id="36" name="Text 33"/>
          <p:cNvSpPr txBox="1"/>
          <p:nvPr/>
        </p:nvSpPr>
        <p:spPr>
          <a:xfrm>
            <a:off x="1645920" y="4928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 7d · report 14d</a:t>
            </a:r>
            <a:endParaRPr lang="en-US" sz="770" dirty="0"/>
          </a:p>
        </p:txBody>
      </p:sp>
      <p:sp>
        <p:nvSpPr>
          <p:cNvPr id="37" name="Shape 34"/>
          <p:cNvSpPr/>
          <p:nvPr/>
        </p:nvSpPr>
        <p:spPr>
          <a:xfrm>
            <a:off x="6409944" y="2322576"/>
            <a:ext cx="4882896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92824" y="2532888"/>
            <a:ext cx="484632" cy="4846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92824" y="254203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214616" y="245973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artifact download</a:t>
            </a:r>
            <a:endParaRPr lang="en-US" sz="1030" dirty="0"/>
          </a:p>
        </p:txBody>
      </p:sp>
      <p:sp>
        <p:nvSpPr>
          <p:cNvPr id="41" name="Text 38"/>
          <p:cNvSpPr txBox="1"/>
          <p:nvPr/>
        </p:nvSpPr>
        <p:spPr>
          <a:xfrm>
            <a:off x="7214616" y="2761488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1 output only</a:t>
            </a:r>
            <a:endParaRPr lang="en-US" sz="770" dirty="0"/>
          </a:p>
        </p:txBody>
      </p:sp>
      <p:sp>
        <p:nvSpPr>
          <p:cNvPr id="42" name="Shape 39"/>
          <p:cNvSpPr/>
          <p:nvPr/>
        </p:nvSpPr>
        <p:spPr>
          <a:xfrm>
            <a:off x="6409944" y="3044952"/>
            <a:ext cx="4882896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92824" y="3255264"/>
            <a:ext cx="484632" cy="4846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92824" y="326440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214616" y="3182112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Project/environment guard</a:t>
            </a:r>
            <a:endParaRPr lang="en-US" sz="1030" dirty="0"/>
          </a:p>
        </p:txBody>
      </p:sp>
      <p:sp>
        <p:nvSpPr>
          <p:cNvPr id="46" name="Text 43"/>
          <p:cNvSpPr txBox="1"/>
          <p:nvPr/>
        </p:nvSpPr>
        <p:spPr>
          <a:xfrm>
            <a:off x="7214616" y="3483864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branch match</a:t>
            </a:r>
            <a:endParaRPr lang="en-US" sz="770" dirty="0"/>
          </a:p>
        </p:txBody>
      </p:sp>
      <p:sp>
        <p:nvSpPr>
          <p:cNvPr id="47" name="Shape 44"/>
          <p:cNvSpPr/>
          <p:nvPr/>
        </p:nvSpPr>
        <p:spPr>
          <a:xfrm>
            <a:off x="6409944" y="3767328"/>
            <a:ext cx="4882896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92824" y="3977640"/>
            <a:ext cx="484632" cy="4846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592824" y="3986784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7214616" y="390448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Wrangler Direct Upload</a:t>
            </a:r>
            <a:endParaRPr lang="en-US" sz="1030" dirty="0"/>
          </a:p>
        </p:txBody>
      </p:sp>
      <p:sp>
        <p:nvSpPr>
          <p:cNvPr id="51" name="Text 48"/>
          <p:cNvSpPr txBox="1"/>
          <p:nvPr/>
        </p:nvSpPr>
        <p:spPr>
          <a:xfrm>
            <a:off x="7214616" y="420624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version + credentials</a:t>
            </a:r>
            <a:endParaRPr lang="en-US" sz="770" dirty="0"/>
          </a:p>
        </p:txBody>
      </p:sp>
      <p:sp>
        <p:nvSpPr>
          <p:cNvPr id="52" name="Shape 49"/>
          <p:cNvSpPr/>
          <p:nvPr/>
        </p:nvSpPr>
        <p:spPr>
          <a:xfrm>
            <a:off x="6409944" y="4489704"/>
            <a:ext cx="4882896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92824" y="4700016"/>
            <a:ext cx="484632" cy="4846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592824" y="470916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7214616" y="462686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Deployment identity</a:t>
            </a:r>
            <a:endParaRPr lang="en-US" sz="1030" dirty="0"/>
          </a:p>
        </p:txBody>
      </p:sp>
      <p:sp>
        <p:nvSpPr>
          <p:cNvPr id="56" name="Text 53"/>
          <p:cNvSpPr txBox="1"/>
          <p:nvPr/>
        </p:nvSpPr>
        <p:spPr>
          <a:xfrm>
            <a:off x="7214616" y="4928616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· alias · ID · SHA</a:t>
            </a:r>
            <a:endParaRPr lang="en-US" sz="770" dirty="0"/>
          </a:p>
        </p:txBody>
      </p:sp>
      <p:sp>
        <p:nvSpPr>
          <p:cNvPr id="57" name="Shape 54"/>
          <p:cNvSpPr/>
          <p:nvPr/>
        </p:nvSpPr>
        <p:spPr>
          <a:xfrm>
            <a:off x="5815584" y="3840480"/>
            <a:ext cx="301752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5394960" y="3511296"/>
            <a:ext cx="115214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394960" y="3520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 artifact</a:t>
            </a:r>
            <a:endParaRPr lang="en-US" sz="740" dirty="0"/>
          </a:p>
        </p:txBody>
      </p:sp>
      <p:sp>
        <p:nvSpPr>
          <p:cNvPr id="60" name="Shape 57"/>
          <p:cNvSpPr/>
          <p:nvPr/>
        </p:nvSpPr>
        <p:spPr>
          <a:xfrm>
            <a:off x="841248" y="5413248"/>
            <a:ext cx="3136392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69264" y="5522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 / fork</a:t>
            </a:r>
            <a:endParaRPr lang="en-US" sz="780" dirty="0"/>
          </a:p>
        </p:txBody>
      </p:sp>
      <p:sp>
        <p:nvSpPr>
          <p:cNvPr id="62" name="Text 59"/>
          <p:cNvSpPr txBox="1"/>
          <p:nvPr/>
        </p:nvSpPr>
        <p:spPr>
          <a:xfrm>
            <a:off x="1773936" y="55229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artifact-only</a:t>
            </a:r>
            <a:endParaRPr lang="en-US" sz="760" dirty="0"/>
          </a:p>
        </p:txBody>
      </p:sp>
      <p:sp>
        <p:nvSpPr>
          <p:cNvPr id="63" name="Text 60"/>
          <p:cNvSpPr txBox="1"/>
          <p:nvPr/>
        </p:nvSpPr>
        <p:spPr>
          <a:xfrm>
            <a:off x="2807208" y="552297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없음</a:t>
            </a:r>
            <a:endParaRPr lang="en-US" sz="760" dirty="0"/>
          </a:p>
        </p:txBody>
      </p:sp>
      <p:sp>
        <p:nvSpPr>
          <p:cNvPr id="64" name="Shape 61"/>
          <p:cNvSpPr/>
          <p:nvPr/>
        </p:nvSpPr>
        <p:spPr>
          <a:xfrm>
            <a:off x="4242816" y="5413248"/>
            <a:ext cx="3136392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70832" y="5522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preview</a:t>
            </a:r>
            <a:endParaRPr lang="en-US" sz="780" dirty="0"/>
          </a:p>
        </p:txBody>
      </p:sp>
      <p:sp>
        <p:nvSpPr>
          <p:cNvPr id="66" name="Text 63"/>
          <p:cNvSpPr txBox="1"/>
          <p:nvPr/>
        </p:nvSpPr>
        <p:spPr>
          <a:xfrm>
            <a:off x="5175504" y="55229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preview branch</a:t>
            </a:r>
            <a:endParaRPr lang="en-US" sz="760" dirty="0"/>
          </a:p>
        </p:txBody>
      </p:sp>
      <p:sp>
        <p:nvSpPr>
          <p:cNvPr id="67" name="Text 64"/>
          <p:cNvSpPr txBox="1"/>
          <p:nvPr/>
        </p:nvSpPr>
        <p:spPr>
          <a:xfrm>
            <a:off x="6208776" y="552297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alias 갱신</a:t>
            </a:r>
            <a:endParaRPr lang="en-US" sz="760" dirty="0"/>
          </a:p>
        </p:txBody>
      </p:sp>
      <p:sp>
        <p:nvSpPr>
          <p:cNvPr id="68" name="Shape 65"/>
          <p:cNvSpPr/>
          <p:nvPr/>
        </p:nvSpPr>
        <p:spPr>
          <a:xfrm>
            <a:off x="7644384" y="5413248"/>
            <a:ext cx="3136392" cy="438912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772400" y="5522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</a:t>
            </a:r>
            <a:endParaRPr lang="en-US" sz="780" dirty="0"/>
          </a:p>
        </p:txBody>
      </p:sp>
      <p:sp>
        <p:nvSpPr>
          <p:cNvPr id="70" name="Text 67"/>
          <p:cNvSpPr txBox="1"/>
          <p:nvPr/>
        </p:nvSpPr>
        <p:spPr>
          <a:xfrm>
            <a:off x="8577072" y="55229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main only</a:t>
            </a:r>
            <a:endParaRPr lang="en-US" sz="760" dirty="0"/>
          </a:p>
        </p:txBody>
      </p:sp>
      <p:sp>
        <p:nvSpPr>
          <p:cNvPr id="71" name="Text 68"/>
          <p:cNvSpPr txBox="1"/>
          <p:nvPr/>
        </p:nvSpPr>
        <p:spPr>
          <a:xfrm>
            <a:off x="9610344" y="552297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+ 직렬화</a:t>
            </a:r>
            <a:endParaRPr lang="en-US" sz="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지점마다 보존해야 할 정상 상태가 다르다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Failure isolation · retry boundary · manual rollback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9344"/>
            <a:ext cx="1847088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636776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지점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414016" y="1609344"/>
            <a:ext cx="2157984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05456" y="1636776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차단 범위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4572000" y="1609344"/>
            <a:ext cx="2240280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16367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보존되는 정상 상태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812280" y="1609344"/>
            <a:ext cx="2212848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1636776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증거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9025128" y="1609344"/>
            <a:ext cx="2560320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16568" y="1636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566928" y="2084832"/>
            <a:ext cx="18470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211226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빌드 단계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2414016" y="2084832"/>
            <a:ext cx="215798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505456" y="2112264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staging transaction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572000" y="2084832"/>
            <a:ext cx="2240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63440" y="211226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output + cache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6812280" y="2084832"/>
            <a:ext cx="22128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03720" y="2112264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+ 파일 상태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9025128" y="2084832"/>
            <a:ext cx="2560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16568" y="2112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수정 후 재빌드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566928" y="2560320"/>
            <a:ext cx="184708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25877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프로덕션 검증</a:t>
            </a:r>
            <a:endParaRPr lang="en-US" sz="810" dirty="0"/>
          </a:p>
        </p:txBody>
      </p:sp>
      <p:sp>
        <p:nvSpPr>
          <p:cNvPr id="33" name="Shape 30"/>
          <p:cNvSpPr/>
          <p:nvPr/>
        </p:nvSpPr>
        <p:spPr>
          <a:xfrm>
            <a:off x="2414016" y="2560320"/>
            <a:ext cx="2157984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505456" y="258775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 artifact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4572000" y="2560320"/>
            <a:ext cx="224028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258775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배포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6812280" y="2560320"/>
            <a:ext cx="22128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03720" y="258775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report</a:t>
            </a:r>
            <a:endParaRPr lang="en-US" sz="810" dirty="0"/>
          </a:p>
        </p:txBody>
      </p:sp>
      <p:sp>
        <p:nvSpPr>
          <p:cNvPr id="39" name="Shape 36"/>
          <p:cNvSpPr/>
          <p:nvPr/>
        </p:nvSpPr>
        <p:spPr>
          <a:xfrm>
            <a:off x="9025128" y="2560320"/>
            <a:ext cx="256032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16568" y="2587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실패 항목 수정</a:t>
            </a:r>
            <a:endParaRPr lang="en-US" sz="810" dirty="0"/>
          </a:p>
        </p:txBody>
      </p:sp>
      <p:sp>
        <p:nvSpPr>
          <p:cNvPr id="41" name="Shape 38"/>
          <p:cNvSpPr/>
          <p:nvPr/>
        </p:nvSpPr>
        <p:spPr>
          <a:xfrm>
            <a:off x="566928" y="3035808"/>
            <a:ext cx="18470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8368" y="30632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job</a:t>
            </a:r>
            <a:endParaRPr lang="en-US" sz="810" dirty="0"/>
          </a:p>
        </p:txBody>
      </p:sp>
      <p:sp>
        <p:nvSpPr>
          <p:cNvPr id="43" name="Shape 40"/>
          <p:cNvSpPr/>
          <p:nvPr/>
        </p:nvSpPr>
        <p:spPr>
          <a:xfrm>
            <a:off x="2414016" y="3035808"/>
            <a:ext cx="215798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505456" y="3063240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deployment</a:t>
            </a:r>
            <a:endParaRPr lang="en-US" sz="810" dirty="0"/>
          </a:p>
        </p:txBody>
      </p:sp>
      <p:sp>
        <p:nvSpPr>
          <p:cNvPr id="45" name="Shape 42"/>
          <p:cNvSpPr/>
          <p:nvPr/>
        </p:nvSpPr>
        <p:spPr>
          <a:xfrm>
            <a:off x="4572000" y="3035808"/>
            <a:ext cx="2240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306324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Pages 배포</a:t>
            </a:r>
            <a:endParaRPr lang="en-US" sz="810" dirty="0"/>
          </a:p>
        </p:txBody>
      </p:sp>
      <p:sp>
        <p:nvSpPr>
          <p:cNvPr id="47" name="Shape 44"/>
          <p:cNvSpPr/>
          <p:nvPr/>
        </p:nvSpPr>
        <p:spPr>
          <a:xfrm>
            <a:off x="6812280" y="3035808"/>
            <a:ext cx="22128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903720" y="306324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log + deploy ID</a:t>
            </a:r>
            <a:endParaRPr lang="en-US" sz="810" dirty="0"/>
          </a:p>
        </p:txBody>
      </p:sp>
      <p:sp>
        <p:nvSpPr>
          <p:cNvPr id="49" name="Shape 46"/>
          <p:cNvSpPr/>
          <p:nvPr/>
        </p:nvSpPr>
        <p:spPr>
          <a:xfrm>
            <a:off x="9025128" y="3035808"/>
            <a:ext cx="2560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116568" y="30632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재실행</a:t>
            </a:r>
            <a:endParaRPr lang="en-US" sz="810" dirty="0"/>
          </a:p>
        </p:txBody>
      </p:sp>
      <p:sp>
        <p:nvSpPr>
          <p:cNvPr id="51" name="Shape 48"/>
          <p:cNvSpPr/>
          <p:nvPr/>
        </p:nvSpPr>
        <p:spPr>
          <a:xfrm>
            <a:off x="566928" y="3511296"/>
            <a:ext cx="184708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8368" y="35387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회귀</a:t>
            </a:r>
            <a:endParaRPr lang="en-US" sz="810" dirty="0"/>
          </a:p>
        </p:txBody>
      </p:sp>
      <p:sp>
        <p:nvSpPr>
          <p:cNvPr id="53" name="Shape 50"/>
          <p:cNvSpPr/>
          <p:nvPr/>
        </p:nvSpPr>
        <p:spPr>
          <a:xfrm>
            <a:off x="2414016" y="3511296"/>
            <a:ext cx="2157984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505456" y="353872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트래픽</a:t>
            </a:r>
            <a:endParaRPr lang="en-US" sz="810" dirty="0"/>
          </a:p>
        </p:txBody>
      </p:sp>
      <p:sp>
        <p:nvSpPr>
          <p:cNvPr id="55" name="Shape 52"/>
          <p:cNvSpPr/>
          <p:nvPr/>
        </p:nvSpPr>
        <p:spPr>
          <a:xfrm>
            <a:off x="4572000" y="3511296"/>
            <a:ext cx="224028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663440" y="353872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production 배포</a:t>
            </a:r>
            <a:endParaRPr lang="en-US" sz="810" dirty="0"/>
          </a:p>
        </p:txBody>
      </p:sp>
      <p:sp>
        <p:nvSpPr>
          <p:cNvPr id="57" name="Shape 54"/>
          <p:cNvSpPr/>
          <p:nvPr/>
        </p:nvSpPr>
        <p:spPr>
          <a:xfrm>
            <a:off x="6812280" y="3511296"/>
            <a:ext cx="22128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903720" y="3538728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· ID · commit</a:t>
            </a:r>
            <a:endParaRPr lang="en-US" sz="810" dirty="0"/>
          </a:p>
        </p:txBody>
      </p:sp>
      <p:sp>
        <p:nvSpPr>
          <p:cNvPr id="59" name="Shape 56"/>
          <p:cNvSpPr/>
          <p:nvPr/>
        </p:nvSpPr>
        <p:spPr>
          <a:xfrm>
            <a:off x="9025128" y="3511296"/>
            <a:ext cx="256032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116568" y="35387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 rollback</a:t>
            </a:r>
            <a:endParaRPr lang="en-US" sz="810" dirty="0"/>
          </a:p>
        </p:txBody>
      </p:sp>
      <p:sp>
        <p:nvSpPr>
          <p:cNvPr id="61" name="Shape 58"/>
          <p:cNvSpPr/>
          <p:nvPr/>
        </p:nvSpPr>
        <p:spPr>
          <a:xfrm>
            <a:off x="566928" y="4370832"/>
            <a:ext cx="11018520" cy="138988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41248" y="45902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9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ROLLBACK RUNBOOK</a:t>
            </a:r>
            <a:endParaRPr lang="en-US" sz="920" dirty="0"/>
          </a:p>
        </p:txBody>
      </p:sp>
      <p:sp>
        <p:nvSpPr>
          <p:cNvPr id="63" name="Shape 60"/>
          <p:cNvSpPr/>
          <p:nvPr/>
        </p:nvSpPr>
        <p:spPr>
          <a:xfrm>
            <a:off x="841248" y="4965192"/>
            <a:ext cx="2340864" cy="512064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50976" y="508406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50976" y="509320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1325880" y="5010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확인</a:t>
            </a:r>
            <a:endParaRPr lang="en-US" sz="810" dirty="0"/>
          </a:p>
        </p:txBody>
      </p:sp>
      <p:sp>
        <p:nvSpPr>
          <p:cNvPr id="67" name="Text 64"/>
          <p:cNvSpPr txBox="1"/>
          <p:nvPr/>
        </p:nvSpPr>
        <p:spPr>
          <a:xfrm>
            <a:off x="1984248" y="5029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· success</a:t>
            </a:r>
            <a:endParaRPr lang="en-US" sz="690" dirty="0"/>
          </a:p>
        </p:txBody>
      </p:sp>
      <p:sp>
        <p:nvSpPr>
          <p:cNvPr id="68" name="Shape 65"/>
          <p:cNvSpPr/>
          <p:nvPr/>
        </p:nvSpPr>
        <p:spPr>
          <a:xfrm>
            <a:off x="3474720" y="4965192"/>
            <a:ext cx="2340864" cy="512064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584448" y="508406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584448" y="509320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3959352" y="5010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 검증</a:t>
            </a:r>
            <a:endParaRPr lang="en-US" sz="810" dirty="0"/>
          </a:p>
        </p:txBody>
      </p:sp>
      <p:sp>
        <p:nvSpPr>
          <p:cNvPr id="72" name="Text 69"/>
          <p:cNvSpPr txBox="1"/>
          <p:nvPr/>
        </p:nvSpPr>
        <p:spPr>
          <a:xfrm>
            <a:off x="4617720" y="5029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· time · commit</a:t>
            </a:r>
            <a:endParaRPr lang="en-US" sz="690" dirty="0"/>
          </a:p>
        </p:txBody>
      </p:sp>
      <p:sp>
        <p:nvSpPr>
          <p:cNvPr id="73" name="Shape 70"/>
          <p:cNvSpPr/>
          <p:nvPr/>
        </p:nvSpPr>
        <p:spPr>
          <a:xfrm>
            <a:off x="6108192" y="4965192"/>
            <a:ext cx="2340864" cy="512064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217920" y="5084064"/>
            <a:ext cx="274320" cy="2743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217920" y="509320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750" dirty="0"/>
          </a:p>
        </p:txBody>
      </p:sp>
      <p:sp>
        <p:nvSpPr>
          <p:cNvPr id="76" name="Text 73"/>
          <p:cNvSpPr txBox="1"/>
          <p:nvPr/>
        </p:nvSpPr>
        <p:spPr>
          <a:xfrm>
            <a:off x="6592824" y="5010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실행</a:t>
            </a:r>
            <a:endParaRPr lang="en-US" sz="810" dirty="0"/>
          </a:p>
        </p:txBody>
      </p:sp>
      <p:sp>
        <p:nvSpPr>
          <p:cNvPr id="77" name="Text 74"/>
          <p:cNvSpPr txBox="1"/>
          <p:nvPr/>
        </p:nvSpPr>
        <p:spPr>
          <a:xfrm>
            <a:off x="7251192" y="5029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 / API</a:t>
            </a:r>
            <a:endParaRPr lang="en-US" sz="690" dirty="0"/>
          </a:p>
        </p:txBody>
      </p:sp>
      <p:sp>
        <p:nvSpPr>
          <p:cNvPr id="78" name="Shape 75"/>
          <p:cNvSpPr/>
          <p:nvPr/>
        </p:nvSpPr>
        <p:spPr>
          <a:xfrm>
            <a:off x="8741664" y="4965192"/>
            <a:ext cx="2340864" cy="512064"/>
          </a:xfrm>
          <a:prstGeom prst="roundRect">
            <a:avLst/>
          </a:prstGeom>
          <a:solidFill>
            <a:srgbClr val="24324A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851392" y="508406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8851392" y="509320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9226296" y="5010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재검증</a:t>
            </a:r>
            <a:endParaRPr lang="en-US" sz="810" dirty="0"/>
          </a:p>
        </p:txBody>
      </p:sp>
      <p:sp>
        <p:nvSpPr>
          <p:cNvPr id="82" name="Text 79"/>
          <p:cNvSpPr txBox="1"/>
          <p:nvPr/>
        </p:nvSpPr>
        <p:spPr>
          <a:xfrm>
            <a:off x="9884664" y="5029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· _headers</a:t>
            </a:r>
            <a:endParaRPr lang="en-US" sz="690" dirty="0"/>
          </a:p>
        </p:txBody>
      </p:sp>
      <p:sp>
        <p:nvSpPr>
          <p:cNvPr id="83" name="Shape 80"/>
          <p:cNvSpPr/>
          <p:nvPr/>
        </p:nvSpPr>
        <p:spPr>
          <a:xfrm>
            <a:off x="7909560" y="5925312"/>
            <a:ext cx="3675888" cy="28346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8065008" y="5980176"/>
            <a:ext cx="3364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Preview deployment는 production rollback 대상이 아니다.</a:t>
            </a:r>
            <a:endParaRPr lang="en-US" sz="7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이슈 #44는 8개의 독립된 신뢰성 축으로 완성됐다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 #90–#97 → mother PR #98 → main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9344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1175625959213265e+267" dist="5.587812979606632e+266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1810512"/>
            <a:ext cx="438912" cy="43891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8196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22576" y="1810512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14016" y="1819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#90</a:t>
            </a:r>
            <a:endParaRPr lang="en-US" sz="710" dirty="0"/>
          </a:p>
        </p:txBody>
      </p:sp>
      <p:sp>
        <p:nvSpPr>
          <p:cNvPr id="16" name="Text 13"/>
          <p:cNvSpPr txBox="1"/>
          <p:nvPr/>
        </p:nvSpPr>
        <p:spPr>
          <a:xfrm>
            <a:off x="1335024" y="18196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Toolchain</a:t>
            </a:r>
            <a:endParaRPr lang="en-US" sz="930" dirty="0"/>
          </a:p>
        </p:txBody>
      </p:sp>
      <p:sp>
        <p:nvSpPr>
          <p:cNvPr id="17" name="Text 14"/>
          <p:cNvSpPr txBox="1"/>
          <p:nvPr/>
        </p:nvSpPr>
        <p:spPr>
          <a:xfrm>
            <a:off x="1335024" y="216712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Bun 고정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749808" y="2542032"/>
            <a:ext cx="2103120" cy="109728"/>
          </a:xfrm>
          <a:prstGeom prst="roundRect">
            <a:avLst/>
          </a:prstGeom>
          <a:solidFill>
            <a:srgbClr val="334155">
              <a:alpha val="66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46704" y="1609344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4193044968200846e+271" dist="7.096522484100423e+270" dir="Infinity">
              <a:srgbClr val="0B1220">
                <a:alpha val="Infinity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29584" y="181051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29584" y="18196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102352" y="1810512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3792" y="1819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#91</a:t>
            </a:r>
            <a:endParaRPr lang="en-US" sz="71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18196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 output</a:t>
            </a:r>
            <a:endParaRPr lang="en-US" sz="93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216712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staged swap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529584" y="2542032"/>
            <a:ext cx="2103120" cy="109728"/>
          </a:xfrm>
          <a:prstGeom prst="roundRect">
            <a:avLst/>
          </a:prstGeom>
          <a:solidFill>
            <a:srgbClr val="2563EB">
              <a:alpha val="6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1609344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8025167109615074e+275" dist="9.012583554807537e+274" dir="Infinity">
              <a:srgbClr val="0B1220">
                <a:alpha val="Infinity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09360" y="181051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18196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882128" y="1810512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73568" y="1819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#92</a:t>
            </a:r>
            <a:endParaRPr lang="en-US" sz="710" dirty="0"/>
          </a:p>
        </p:txBody>
      </p:sp>
      <p:sp>
        <p:nvSpPr>
          <p:cNvPr id="32" name="Text 29"/>
          <p:cNvSpPr txBox="1"/>
          <p:nvPr/>
        </p:nvSpPr>
        <p:spPr>
          <a:xfrm>
            <a:off x="6894576" y="18196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Mermaid</a:t>
            </a:r>
            <a:endParaRPr lang="en-US" sz="930" dirty="0"/>
          </a:p>
        </p:txBody>
      </p:sp>
      <p:sp>
        <p:nvSpPr>
          <p:cNvPr id="33" name="Text 30"/>
          <p:cNvSpPr txBox="1"/>
          <p:nvPr/>
        </p:nvSpPr>
        <p:spPr>
          <a:xfrm>
            <a:off x="6894576" y="216712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self-hosted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309360" y="2542032"/>
            <a:ext cx="2103120" cy="109728"/>
          </a:xfrm>
          <a:prstGeom prst="roundRect">
            <a:avLst/>
          </a:prstGeom>
          <a:solidFill>
            <a:srgbClr val="7C3AED">
              <a:alpha val="6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06256" y="1609344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.2891962229211143e+279" dist="1.1445981114605571e+279" dir="Infinity">
              <a:srgbClr val="0B1220">
                <a:alpha val="Infinity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089136" y="181051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089136" y="18196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0661904" y="1810512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753344" y="1819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#93</a:t>
            </a:r>
            <a:endParaRPr lang="en-US" sz="710" dirty="0"/>
          </a:p>
        </p:txBody>
      </p:sp>
      <p:sp>
        <p:nvSpPr>
          <p:cNvPr id="40" name="Text 37"/>
          <p:cNvSpPr txBox="1"/>
          <p:nvPr/>
        </p:nvSpPr>
        <p:spPr>
          <a:xfrm>
            <a:off x="9674352" y="18196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</a:t>
            </a:r>
            <a:endParaRPr lang="en-US" sz="930" dirty="0"/>
          </a:p>
        </p:txBody>
      </p:sp>
      <p:sp>
        <p:nvSpPr>
          <p:cNvPr id="41" name="Text 38"/>
          <p:cNvSpPr txBox="1"/>
          <p:nvPr/>
        </p:nvSpPr>
        <p:spPr>
          <a:xfrm>
            <a:off x="9674352" y="216712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_headers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089136" y="2542032"/>
            <a:ext cx="2103120" cy="109728"/>
          </a:xfrm>
          <a:prstGeom prst="roundRect">
            <a:avLst/>
          </a:prstGeom>
          <a:solidFill>
            <a:srgbClr val="06B6D4">
              <a:alpha val="6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6928" y="3191256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.9072792031098153e+283" dist="1.4536396015549076e+283" dir="Infinity">
              <a:srgbClr val="0B1220">
                <a:alpha val="Infinity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49808" y="33924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49808" y="34015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322576" y="3392424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414016" y="340156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#94</a:t>
            </a:r>
            <a:endParaRPr lang="en-US" sz="710" dirty="0"/>
          </a:p>
        </p:txBody>
      </p:sp>
      <p:sp>
        <p:nvSpPr>
          <p:cNvPr id="48" name="Text 45"/>
          <p:cNvSpPr txBox="1"/>
          <p:nvPr/>
        </p:nvSpPr>
        <p:spPr>
          <a:xfrm>
            <a:off x="1335024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</a:t>
            </a:r>
            <a:endParaRPr lang="en-US" sz="930" dirty="0"/>
          </a:p>
        </p:txBody>
      </p:sp>
      <p:sp>
        <p:nvSpPr>
          <p:cNvPr id="49" name="Text 46"/>
          <p:cNvSpPr txBox="1"/>
          <p:nvPr/>
        </p:nvSpPr>
        <p:spPr>
          <a:xfrm>
            <a:off x="1335024" y="37490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 archive 제거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749808" y="4123944"/>
            <a:ext cx="2103120" cy="109728"/>
          </a:xfrm>
          <a:prstGeom prst="roundRect">
            <a:avLst/>
          </a:prstGeom>
          <a:solidFill>
            <a:srgbClr val="F59E0B">
              <a:alpha val="6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346704" y="3191256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.6922445879494656e+287" dist="1.8461222939747328e+287" dir="Infinity">
              <a:srgbClr val="0B1220">
                <a:alpha val="Infinity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529584" y="339242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529584" y="34015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02352" y="3392424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93792" y="340156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#95</a:t>
            </a:r>
            <a:endParaRPr lang="en-US" sz="710" dirty="0"/>
          </a:p>
        </p:txBody>
      </p:sp>
      <p:sp>
        <p:nvSpPr>
          <p:cNvPr id="56" name="Text 53"/>
          <p:cNvSpPr txBox="1"/>
          <p:nvPr/>
        </p:nvSpPr>
        <p:spPr>
          <a:xfrm>
            <a:off x="4114800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Release</a:t>
            </a:r>
            <a:endParaRPr lang="en-US" sz="930" dirty="0"/>
          </a:p>
        </p:txBody>
      </p:sp>
      <p:sp>
        <p:nvSpPr>
          <p:cNvPr id="57" name="Text 54"/>
          <p:cNvSpPr txBox="1"/>
          <p:nvPr/>
        </p:nvSpPr>
        <p:spPr>
          <a:xfrm>
            <a:off x="4114800" y="37490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tag 경로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3529584" y="4123944"/>
            <a:ext cx="2103120" cy="109728"/>
          </a:xfrm>
          <a:prstGeom prst="roundRect">
            <a:avLst/>
          </a:prstGeom>
          <a:solidFill>
            <a:srgbClr val="7C3AED">
              <a:alpha val="6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126480" y="3191256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4.6891506266958215e+291" dist="2.3445753133479108e+291" dir="Infinity">
              <a:srgbClr val="0B1220">
                <a:alpha val="Infinity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09360" y="339242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309360" y="34015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7882128" y="3392424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973568" y="340156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#96</a:t>
            </a:r>
            <a:endParaRPr lang="en-US" sz="710" dirty="0"/>
          </a:p>
        </p:txBody>
      </p:sp>
      <p:sp>
        <p:nvSpPr>
          <p:cNvPr id="64" name="Text 61"/>
          <p:cNvSpPr txBox="1"/>
          <p:nvPr/>
        </p:nvSpPr>
        <p:spPr>
          <a:xfrm>
            <a:off x="6894576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</a:t>
            </a:r>
            <a:endParaRPr lang="en-US" sz="930" dirty="0"/>
          </a:p>
        </p:txBody>
      </p:sp>
      <p:sp>
        <p:nvSpPr>
          <p:cNvPr id="65" name="Text 62"/>
          <p:cNvSpPr txBox="1"/>
          <p:nvPr/>
        </p:nvSpPr>
        <p:spPr>
          <a:xfrm>
            <a:off x="6894576" y="37490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gate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6309360" y="4123944"/>
            <a:ext cx="2103120" cy="109728"/>
          </a:xfrm>
          <a:prstGeom prst="roundRect">
            <a:avLst/>
          </a:prstGeom>
          <a:solidFill>
            <a:srgbClr val="10B981">
              <a:alpha val="6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906256" y="3191256"/>
            <a:ext cx="249631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5.955221295903693e+295" dist="2.9776106479518466e+295" dir="Infinity">
              <a:srgbClr val="0B1220">
                <a:alpha val="Infinity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9089136" y="3392424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089136" y="34015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0661904" y="3392424"/>
            <a:ext cx="530352" cy="228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753344" y="340156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#97</a:t>
            </a:r>
            <a:endParaRPr lang="en-US" sz="710" dirty="0"/>
          </a:p>
        </p:txBody>
      </p:sp>
      <p:sp>
        <p:nvSpPr>
          <p:cNvPr id="72" name="Text 69"/>
          <p:cNvSpPr txBox="1"/>
          <p:nvPr/>
        </p:nvSpPr>
        <p:spPr>
          <a:xfrm>
            <a:off x="9674352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</a:t>
            </a:r>
            <a:endParaRPr lang="en-US" sz="930" dirty="0"/>
          </a:p>
        </p:txBody>
      </p:sp>
      <p:sp>
        <p:nvSpPr>
          <p:cNvPr id="73" name="Text 70"/>
          <p:cNvSpPr txBox="1"/>
          <p:nvPr/>
        </p:nvSpPr>
        <p:spPr>
          <a:xfrm>
            <a:off x="9674352" y="37490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Cloudflare reusable</a:t>
            </a:r>
            <a:endParaRPr lang="en-US" sz="780" dirty="0"/>
          </a:p>
        </p:txBody>
      </p:sp>
      <p:sp>
        <p:nvSpPr>
          <p:cNvPr id="74" name="Shape 71"/>
          <p:cNvSpPr/>
          <p:nvPr/>
        </p:nvSpPr>
        <p:spPr>
          <a:xfrm>
            <a:off x="9089136" y="4123944"/>
            <a:ext cx="2103120" cy="109728"/>
          </a:xfrm>
          <a:prstGeom prst="roundRect">
            <a:avLst/>
          </a:prstGeom>
          <a:solidFill>
            <a:srgbClr val="06B6D4">
              <a:alpha val="6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66928" y="5047488"/>
            <a:ext cx="11018520" cy="76809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59536" y="5257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MERGE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1554480" y="521208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 sub PRs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2633472" y="5376672"/>
            <a:ext cx="117043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9" name="Text 76"/>
          <p:cNvSpPr txBox="1"/>
          <p:nvPr/>
        </p:nvSpPr>
        <p:spPr>
          <a:xfrm>
            <a:off x="3886200" y="5212080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issue-44-mother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5687568" y="5376672"/>
            <a:ext cx="117043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1" name="Text 78"/>
          <p:cNvSpPr txBox="1"/>
          <p:nvPr/>
        </p:nvSpPr>
        <p:spPr>
          <a:xfrm>
            <a:off x="6931152" y="5212080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 #98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8065008" y="5376672"/>
            <a:ext cx="1170432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9363456" y="5221224"/>
            <a:ext cx="1700784" cy="274320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454896" y="5230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 · MERGED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 구조는 생성 시점과 브라우저 실행 시점을 분리한다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Build-time TypeScript · Browser runtime JavaScript · Delivery workflows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2743200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.56313104579769e+299" dist="3.781565522898845e+299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1600200"/>
            <a:ext cx="2743200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173736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src/build/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13232" y="2377440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" y="24323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pipeline.ts</a:t>
            </a:r>
            <a:endParaRPr lang="en-US" sz="710" dirty="0"/>
          </a:p>
        </p:txBody>
      </p:sp>
      <p:sp>
        <p:nvSpPr>
          <p:cNvPr id="16" name="Text 13"/>
          <p:cNvSpPr txBox="1"/>
          <p:nvPr/>
        </p:nvSpPr>
        <p:spPr>
          <a:xfrm>
            <a:off x="2157984" y="24323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오케스트레이션</a:t>
            </a:r>
            <a:endParaRPr lang="en-US" sz="690" dirty="0"/>
          </a:p>
        </p:txBody>
      </p:sp>
      <p:sp>
        <p:nvSpPr>
          <p:cNvPr id="17" name="Shape 14"/>
          <p:cNvSpPr/>
          <p:nvPr/>
        </p:nvSpPr>
        <p:spPr>
          <a:xfrm>
            <a:off x="713232" y="2843784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" y="28986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storage.ts</a:t>
            </a:r>
            <a:endParaRPr lang="en-US" sz="710" dirty="0"/>
          </a:p>
        </p:txBody>
      </p:sp>
      <p:sp>
        <p:nvSpPr>
          <p:cNvPr id="19" name="Text 16"/>
          <p:cNvSpPr txBox="1"/>
          <p:nvPr/>
        </p:nvSpPr>
        <p:spPr>
          <a:xfrm>
            <a:off x="2157984" y="28986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 transaction</a:t>
            </a:r>
            <a:endParaRPr lang="en-US" sz="690" dirty="0"/>
          </a:p>
        </p:txBody>
      </p:sp>
      <p:sp>
        <p:nvSpPr>
          <p:cNvPr id="20" name="Shape 17"/>
          <p:cNvSpPr/>
          <p:nvPr/>
        </p:nvSpPr>
        <p:spPr>
          <a:xfrm>
            <a:off x="713232" y="3310128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source.ts</a:t>
            </a:r>
            <a:endParaRPr lang="en-US" sz="710" dirty="0"/>
          </a:p>
        </p:txBody>
      </p:sp>
      <p:sp>
        <p:nvSpPr>
          <p:cNvPr id="22" name="Text 19"/>
          <p:cNvSpPr txBox="1"/>
          <p:nvPr/>
        </p:nvSpPr>
        <p:spPr>
          <a:xfrm>
            <a:off x="2157984" y="3364992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입력·cache</a:t>
            </a:r>
            <a:endParaRPr lang="en-US" sz="690" dirty="0"/>
          </a:p>
        </p:txBody>
      </p:sp>
      <p:sp>
        <p:nvSpPr>
          <p:cNvPr id="23" name="Shape 20"/>
          <p:cNvSpPr/>
          <p:nvPr/>
        </p:nvSpPr>
        <p:spPr>
          <a:xfrm>
            <a:off x="713232" y="3776472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" y="383133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graph.ts</a:t>
            </a:r>
            <a:endParaRPr lang="en-US" sz="710" dirty="0"/>
          </a:p>
        </p:txBody>
      </p:sp>
      <p:sp>
        <p:nvSpPr>
          <p:cNvPr id="25" name="Text 22"/>
          <p:cNvSpPr txBox="1"/>
          <p:nvPr/>
        </p:nvSpPr>
        <p:spPr>
          <a:xfrm>
            <a:off x="2157984" y="383133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그래프</a:t>
            </a:r>
            <a:endParaRPr lang="en-US" sz="690" dirty="0"/>
          </a:p>
        </p:txBody>
      </p:sp>
      <p:sp>
        <p:nvSpPr>
          <p:cNvPr id="26" name="Shape 23"/>
          <p:cNvSpPr/>
          <p:nvPr/>
        </p:nvSpPr>
        <p:spPr>
          <a:xfrm>
            <a:off x="713232" y="4242816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3816" y="42976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content.ts</a:t>
            </a:r>
            <a:endParaRPr lang="en-US" sz="710" dirty="0"/>
          </a:p>
        </p:txBody>
      </p:sp>
      <p:sp>
        <p:nvSpPr>
          <p:cNvPr id="28" name="Text 25"/>
          <p:cNvSpPr txBox="1"/>
          <p:nvPr/>
        </p:nvSpPr>
        <p:spPr>
          <a:xfrm>
            <a:off x="2157984" y="4297680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렌더링</a:t>
            </a:r>
            <a:endParaRPr lang="en-US" sz="690" dirty="0"/>
          </a:p>
        </p:txBody>
      </p:sp>
      <p:sp>
        <p:nvSpPr>
          <p:cNvPr id="29" name="Shape 26"/>
          <p:cNvSpPr/>
          <p:nvPr/>
        </p:nvSpPr>
        <p:spPr>
          <a:xfrm>
            <a:off x="713232" y="4709160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" y="476402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output.ts</a:t>
            </a:r>
            <a:endParaRPr lang="en-US" sz="710" dirty="0"/>
          </a:p>
        </p:txBody>
      </p:sp>
      <p:sp>
        <p:nvSpPr>
          <p:cNvPr id="31" name="Text 28"/>
          <p:cNvSpPr txBox="1"/>
          <p:nvPr/>
        </p:nvSpPr>
        <p:spPr>
          <a:xfrm>
            <a:off x="2157984" y="476402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자산·페이지 출력</a:t>
            </a:r>
            <a:endParaRPr lang="en-US" sz="690" dirty="0"/>
          </a:p>
        </p:txBody>
      </p:sp>
      <p:sp>
        <p:nvSpPr>
          <p:cNvPr id="32" name="Shape 29"/>
          <p:cNvSpPr/>
          <p:nvPr/>
        </p:nvSpPr>
        <p:spPr>
          <a:xfrm>
            <a:off x="713232" y="5175504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3816" y="52303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cache-headers.ts</a:t>
            </a:r>
            <a:endParaRPr lang="en-US" sz="710" dirty="0"/>
          </a:p>
        </p:txBody>
      </p:sp>
      <p:sp>
        <p:nvSpPr>
          <p:cNvPr id="34" name="Text 31"/>
          <p:cNvSpPr txBox="1"/>
          <p:nvPr/>
        </p:nvSpPr>
        <p:spPr>
          <a:xfrm>
            <a:off x="2157984" y="523036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호스트 정책</a:t>
            </a:r>
            <a:endParaRPr lang="en-US" sz="690" dirty="0"/>
          </a:p>
        </p:txBody>
      </p:sp>
      <p:sp>
        <p:nvSpPr>
          <p:cNvPr id="35" name="Shape 32"/>
          <p:cNvSpPr/>
          <p:nvPr/>
        </p:nvSpPr>
        <p:spPr>
          <a:xfrm>
            <a:off x="3529584" y="1600200"/>
            <a:ext cx="2743200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9.605176428163068e+303" dist="4.802588214081534e+303" dir="Infinity">
              <a:srgbClr val="0B1220">
                <a:alpha val="Infinity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529584" y="1600200"/>
            <a:ext cx="2743200" cy="5486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94176" y="173736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src/runtime/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3675888" y="2377440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776472" y="24323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runtime-bootstrap.js</a:t>
            </a:r>
            <a:endParaRPr lang="en-US" sz="710" dirty="0"/>
          </a:p>
        </p:txBody>
      </p:sp>
      <p:sp>
        <p:nvSpPr>
          <p:cNvPr id="40" name="Text 37"/>
          <p:cNvSpPr txBox="1"/>
          <p:nvPr/>
        </p:nvSpPr>
        <p:spPr>
          <a:xfrm>
            <a:off x="5120640" y="24323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초기화</a:t>
            </a:r>
            <a:endParaRPr lang="en-US" sz="690" dirty="0"/>
          </a:p>
        </p:txBody>
      </p:sp>
      <p:sp>
        <p:nvSpPr>
          <p:cNvPr id="41" name="Shape 38"/>
          <p:cNvSpPr/>
          <p:nvPr/>
        </p:nvSpPr>
        <p:spPr>
          <a:xfrm>
            <a:off x="3675888" y="2843784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776472" y="28986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app.js</a:t>
            </a:r>
            <a:endParaRPr lang="en-US" sz="710" dirty="0"/>
          </a:p>
        </p:txBody>
      </p:sp>
      <p:sp>
        <p:nvSpPr>
          <p:cNvPr id="43" name="Text 40"/>
          <p:cNvSpPr txBox="1"/>
          <p:nvPr/>
        </p:nvSpPr>
        <p:spPr>
          <a:xfrm>
            <a:off x="5120640" y="28986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 root</a:t>
            </a:r>
            <a:endParaRPr lang="en-US" sz="690" dirty="0"/>
          </a:p>
        </p:txBody>
      </p:sp>
      <p:sp>
        <p:nvSpPr>
          <p:cNvPr id="44" name="Shape 41"/>
          <p:cNvSpPr/>
          <p:nvPr/>
        </p:nvSpPr>
        <p:spPr>
          <a:xfrm>
            <a:off x="3675888" y="3310128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776472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navigation-state.js</a:t>
            </a:r>
            <a:endParaRPr lang="en-US" sz="710" dirty="0"/>
          </a:p>
        </p:txBody>
      </p:sp>
      <p:sp>
        <p:nvSpPr>
          <p:cNvPr id="46" name="Text 43"/>
          <p:cNvSpPr txBox="1"/>
          <p:nvPr/>
        </p:nvSpPr>
        <p:spPr>
          <a:xfrm>
            <a:off x="5120640" y="3364992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상태</a:t>
            </a:r>
            <a:endParaRPr lang="en-US" sz="690" dirty="0"/>
          </a:p>
        </p:txBody>
      </p:sp>
      <p:sp>
        <p:nvSpPr>
          <p:cNvPr id="47" name="Shape 44"/>
          <p:cNvSpPr/>
          <p:nvPr/>
        </p:nvSpPr>
        <p:spPr>
          <a:xfrm>
            <a:off x="3675888" y="3776472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76472" y="383133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*-controller.js</a:t>
            </a:r>
            <a:endParaRPr lang="en-US" sz="710" dirty="0"/>
          </a:p>
        </p:txBody>
      </p:sp>
      <p:sp>
        <p:nvSpPr>
          <p:cNvPr id="49" name="Text 46"/>
          <p:cNvSpPr txBox="1"/>
          <p:nvPr/>
        </p:nvSpPr>
        <p:spPr>
          <a:xfrm>
            <a:off x="5120640" y="383133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단위</a:t>
            </a:r>
            <a:endParaRPr lang="en-US" sz="690" dirty="0"/>
          </a:p>
        </p:txBody>
      </p:sp>
      <p:sp>
        <p:nvSpPr>
          <p:cNvPr id="50" name="Shape 47"/>
          <p:cNvSpPr/>
          <p:nvPr/>
        </p:nvSpPr>
        <p:spPr>
          <a:xfrm>
            <a:off x="3675888" y="4242816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776472" y="42976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manifest-adapter.js</a:t>
            </a:r>
            <a:endParaRPr lang="en-US" sz="710" dirty="0"/>
          </a:p>
        </p:txBody>
      </p:sp>
      <p:sp>
        <p:nvSpPr>
          <p:cNvPr id="52" name="Text 49"/>
          <p:cNvSpPr txBox="1"/>
          <p:nvPr/>
        </p:nvSpPr>
        <p:spPr>
          <a:xfrm>
            <a:off x="5120640" y="4297680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경계</a:t>
            </a:r>
            <a:endParaRPr lang="en-US" sz="690" dirty="0"/>
          </a:p>
        </p:txBody>
      </p:sp>
      <p:sp>
        <p:nvSpPr>
          <p:cNvPr id="53" name="Shape 50"/>
          <p:cNvSpPr/>
          <p:nvPr/>
        </p:nvSpPr>
        <p:spPr>
          <a:xfrm>
            <a:off x="3675888" y="4709160"/>
            <a:ext cx="24505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776472" y="476402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tree-runtime.js</a:t>
            </a:r>
            <a:endParaRPr lang="en-US" sz="710" dirty="0"/>
          </a:p>
        </p:txBody>
      </p:sp>
      <p:sp>
        <p:nvSpPr>
          <p:cNvPr id="55" name="Text 52"/>
          <p:cNvSpPr txBox="1"/>
          <p:nvPr/>
        </p:nvSpPr>
        <p:spPr>
          <a:xfrm>
            <a:off x="5120640" y="476402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 로딩</a:t>
            </a:r>
            <a:endParaRPr lang="en-US" sz="690" dirty="0"/>
          </a:p>
        </p:txBody>
      </p:sp>
      <p:sp>
        <p:nvSpPr>
          <p:cNvPr id="56" name="Shape 53"/>
          <p:cNvSpPr/>
          <p:nvPr/>
        </p:nvSpPr>
        <p:spPr>
          <a:xfrm>
            <a:off x="3675888" y="5175504"/>
            <a:ext cx="24505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776472" y="52303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app.css</a:t>
            </a:r>
            <a:endParaRPr lang="en-US" sz="710" dirty="0"/>
          </a:p>
        </p:txBody>
      </p:sp>
      <p:sp>
        <p:nvSpPr>
          <p:cNvPr id="58" name="Text 55"/>
          <p:cNvSpPr txBox="1"/>
          <p:nvPr/>
        </p:nvSpPr>
        <p:spPr>
          <a:xfrm>
            <a:off x="5120640" y="523036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UI</a:t>
            </a:r>
            <a:endParaRPr lang="en-US" sz="690" dirty="0"/>
          </a:p>
        </p:txBody>
      </p:sp>
      <p:sp>
        <p:nvSpPr>
          <p:cNvPr id="59" name="Shape 56"/>
          <p:cNvSpPr/>
          <p:nvPr/>
        </p:nvSpPr>
        <p:spPr>
          <a:xfrm>
            <a:off x="6492240" y="1600200"/>
            <a:ext cx="2359152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.2198574063767096e+308" dist="6.099287031883548e+307" dir="Infinity">
              <a:srgbClr val="0B1220">
                <a:alpha val="Infinity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492240" y="1600200"/>
            <a:ext cx="2359152" cy="5486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656832" y="173736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scripts/</a:t>
            </a:r>
            <a:endParaRPr lang="en-US" sz="1020" dirty="0"/>
          </a:p>
        </p:txBody>
      </p:sp>
      <p:sp>
        <p:nvSpPr>
          <p:cNvPr id="62" name="Shape 59"/>
          <p:cNvSpPr/>
          <p:nvPr/>
        </p:nvSpPr>
        <p:spPr>
          <a:xfrm>
            <a:off x="6638544" y="2377440"/>
            <a:ext cx="2066544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739128" y="2432304"/>
            <a:ext cx="13211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B98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validate-production.ts</a:t>
            </a:r>
            <a:endParaRPr lang="en-US" sz="710" dirty="0"/>
          </a:p>
        </p:txBody>
      </p:sp>
      <p:sp>
        <p:nvSpPr>
          <p:cNvPr id="64" name="Text 61"/>
          <p:cNvSpPr txBox="1"/>
          <p:nvPr/>
        </p:nvSpPr>
        <p:spPr>
          <a:xfrm>
            <a:off x="7860548" y="2432304"/>
            <a:ext cx="77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CLI</a:t>
            </a:r>
            <a:endParaRPr lang="en-US" sz="690" dirty="0"/>
          </a:p>
        </p:txBody>
      </p:sp>
      <p:sp>
        <p:nvSpPr>
          <p:cNvPr id="65" name="Shape 62"/>
          <p:cNvSpPr/>
          <p:nvPr/>
        </p:nvSpPr>
        <p:spPr>
          <a:xfrm>
            <a:off x="6638544" y="2843784"/>
            <a:ext cx="2066544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739128" y="2898648"/>
            <a:ext cx="13211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B98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production-validation.ts</a:t>
            </a:r>
            <a:endParaRPr lang="en-US" sz="710" dirty="0"/>
          </a:p>
        </p:txBody>
      </p:sp>
      <p:sp>
        <p:nvSpPr>
          <p:cNvPr id="67" name="Text 64"/>
          <p:cNvSpPr txBox="1"/>
          <p:nvPr/>
        </p:nvSpPr>
        <p:spPr>
          <a:xfrm>
            <a:off x="7860548" y="2898648"/>
            <a:ext cx="77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코어</a:t>
            </a:r>
            <a:endParaRPr lang="en-US" sz="690" dirty="0"/>
          </a:p>
        </p:txBody>
      </p:sp>
      <p:sp>
        <p:nvSpPr>
          <p:cNvPr id="68" name="Shape 65"/>
          <p:cNvSpPr/>
          <p:nvPr/>
        </p:nvSpPr>
        <p:spPr>
          <a:xfrm>
            <a:off x="6638544" y="3310128"/>
            <a:ext cx="2066544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739128" y="3364992"/>
            <a:ext cx="13211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B98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check-output-size.ts</a:t>
            </a:r>
            <a:endParaRPr lang="en-US" sz="710" dirty="0"/>
          </a:p>
        </p:txBody>
      </p:sp>
      <p:sp>
        <p:nvSpPr>
          <p:cNvPr id="70" name="Text 67"/>
          <p:cNvSpPr txBox="1"/>
          <p:nvPr/>
        </p:nvSpPr>
        <p:spPr>
          <a:xfrm>
            <a:off x="7860548" y="3364992"/>
            <a:ext cx="77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 budget</a:t>
            </a:r>
            <a:endParaRPr lang="en-US" sz="690" dirty="0"/>
          </a:p>
        </p:txBody>
      </p:sp>
      <p:sp>
        <p:nvSpPr>
          <p:cNvPr id="71" name="Shape 68"/>
          <p:cNvSpPr/>
          <p:nvPr/>
        </p:nvSpPr>
        <p:spPr>
          <a:xfrm>
            <a:off x="6638544" y="3776472"/>
            <a:ext cx="2066544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739128" y="3831336"/>
            <a:ext cx="13211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B98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check-build-…</a:t>
            </a:r>
            <a:endParaRPr lang="en-US" sz="710" dirty="0"/>
          </a:p>
        </p:txBody>
      </p:sp>
      <p:sp>
        <p:nvSpPr>
          <p:cNvPr id="73" name="Text 70"/>
          <p:cNvSpPr txBox="1"/>
          <p:nvPr/>
        </p:nvSpPr>
        <p:spPr>
          <a:xfrm>
            <a:off x="7860548" y="3831336"/>
            <a:ext cx="77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재현성</a:t>
            </a:r>
            <a:endParaRPr lang="en-US" sz="690" dirty="0"/>
          </a:p>
        </p:txBody>
      </p:sp>
      <p:sp>
        <p:nvSpPr>
          <p:cNvPr id="74" name="Shape 71"/>
          <p:cNvSpPr/>
          <p:nvPr/>
        </p:nvSpPr>
        <p:spPr>
          <a:xfrm>
            <a:off x="6638544" y="4242816"/>
            <a:ext cx="2066544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739128" y="4297680"/>
            <a:ext cx="13211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B98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lint-published-…</a:t>
            </a:r>
            <a:endParaRPr lang="en-US" sz="710" dirty="0"/>
          </a:p>
        </p:txBody>
      </p:sp>
      <p:sp>
        <p:nvSpPr>
          <p:cNvPr id="76" name="Text 73"/>
          <p:cNvSpPr txBox="1"/>
          <p:nvPr/>
        </p:nvSpPr>
        <p:spPr>
          <a:xfrm>
            <a:off x="7860548" y="4297680"/>
            <a:ext cx="77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Markdown</a:t>
            </a:r>
            <a:endParaRPr lang="en-US" sz="690" dirty="0"/>
          </a:p>
        </p:txBody>
      </p:sp>
      <p:sp>
        <p:nvSpPr>
          <p:cNvPr id="77" name="Shape 74"/>
          <p:cNvSpPr/>
          <p:nvPr/>
        </p:nvSpPr>
        <p:spPr>
          <a:xfrm>
            <a:off x="9070848" y="1600200"/>
            <a:ext cx="2514600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9070848" y="1600200"/>
            <a:ext cx="251460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235440" y="1737360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.github/workflows/</a:t>
            </a:r>
            <a:endParaRPr lang="en-US" sz="1020" dirty="0"/>
          </a:p>
        </p:txBody>
      </p:sp>
      <p:sp>
        <p:nvSpPr>
          <p:cNvPr id="80" name="Shape 77"/>
          <p:cNvSpPr/>
          <p:nvPr/>
        </p:nvSpPr>
        <p:spPr>
          <a:xfrm>
            <a:off x="9217152" y="2377440"/>
            <a:ext cx="22219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9317736" y="24323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6B6D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ci.yml</a:t>
            </a:r>
            <a:endParaRPr lang="en-US" sz="710" dirty="0"/>
          </a:p>
        </p:txBody>
      </p:sp>
      <p:sp>
        <p:nvSpPr>
          <p:cNvPr id="82" name="Text 79"/>
          <p:cNvSpPr txBox="1"/>
          <p:nvPr/>
        </p:nvSpPr>
        <p:spPr>
          <a:xfrm>
            <a:off x="10529316" y="2432304"/>
            <a:ext cx="829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품질</a:t>
            </a:r>
            <a:endParaRPr lang="en-US" sz="690" dirty="0"/>
          </a:p>
        </p:txBody>
      </p:sp>
      <p:sp>
        <p:nvSpPr>
          <p:cNvPr id="83" name="Shape 80"/>
          <p:cNvSpPr/>
          <p:nvPr/>
        </p:nvSpPr>
        <p:spPr>
          <a:xfrm>
            <a:off x="9217152" y="2843784"/>
            <a:ext cx="2221992" cy="3291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317736" y="28986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6B6D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release.yml</a:t>
            </a:r>
            <a:endParaRPr lang="en-US" sz="710" dirty="0"/>
          </a:p>
        </p:txBody>
      </p:sp>
      <p:sp>
        <p:nvSpPr>
          <p:cNvPr id="85" name="Text 82"/>
          <p:cNvSpPr txBox="1"/>
          <p:nvPr/>
        </p:nvSpPr>
        <p:spPr>
          <a:xfrm>
            <a:off x="10529316" y="2898648"/>
            <a:ext cx="829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 릴리스</a:t>
            </a:r>
            <a:endParaRPr lang="en-US" sz="690" dirty="0"/>
          </a:p>
        </p:txBody>
      </p:sp>
      <p:sp>
        <p:nvSpPr>
          <p:cNvPr id="86" name="Shape 83"/>
          <p:cNvSpPr/>
          <p:nvPr/>
        </p:nvSpPr>
        <p:spPr>
          <a:xfrm>
            <a:off x="9217152" y="3310128"/>
            <a:ext cx="2221992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9317736" y="3364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6B6D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deploy-cloudflare-…</a:t>
            </a:r>
            <a:endParaRPr lang="en-US" sz="710" dirty="0"/>
          </a:p>
        </p:txBody>
      </p:sp>
      <p:sp>
        <p:nvSpPr>
          <p:cNvPr id="88" name="Text 85"/>
          <p:cNvSpPr txBox="1"/>
          <p:nvPr/>
        </p:nvSpPr>
        <p:spPr>
          <a:xfrm>
            <a:off x="10529316" y="3364992"/>
            <a:ext cx="829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배포</a:t>
            </a:r>
            <a:endParaRPr lang="en-US" sz="690" dirty="0"/>
          </a:p>
        </p:txBody>
      </p:sp>
      <p:sp>
        <p:nvSpPr>
          <p:cNvPr id="89" name="Shape 86"/>
          <p:cNvSpPr/>
          <p:nvPr/>
        </p:nvSpPr>
        <p:spPr>
          <a:xfrm>
            <a:off x="731520" y="6062472"/>
            <a:ext cx="96012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22960" y="60716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TIME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3694176" y="6062472"/>
            <a:ext cx="859536" cy="27432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785616" y="60716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BROWSER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6656832" y="6062472"/>
            <a:ext cx="859536" cy="27432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D1FAE5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748272" y="60716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9235440" y="6062472"/>
            <a:ext cx="877824" cy="274320"/>
          </a:xfrm>
          <a:prstGeom prst="roundRect">
            <a:avLst/>
          </a:prstGeom>
          <a:solidFill>
            <a:srgbClr val="CFFAFE"/>
          </a:solidFill>
          <a:ln w="10160">
            <a:solidFill>
              <a:srgbClr val="CFFAFE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9326880" y="607161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DELIVERY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 의존성은 pipeline을 중심으로 단방향이다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Entry → orchestration → phases → transaction / output contracts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EIAM 실제 구조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743200"/>
            <a:ext cx="149961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26080"/>
            <a:ext cx="448056" cy="448056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935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880360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src/cli.ts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32004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command entry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761488" y="2615184"/>
            <a:ext cx="1956816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916936" y="2798064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44368" y="280720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PIPE</a:t>
            </a:r>
            <a:endParaRPr lang="en-US" sz="72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752344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build/pipeline.ts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072384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buildSite orchestration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2121408" y="3218688"/>
            <a:ext cx="640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157984" y="2926080"/>
            <a:ext cx="56692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157984" y="29352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5486400" y="1591056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41848" y="1773936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0" y="17830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199632" y="172821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source.ts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199632" y="204825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 + cache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7552944" y="1591056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08392" y="1773936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35824" y="17830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GRF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266176" y="172821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graph.ts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66176" y="204825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routes + links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9619488" y="1591056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774936" y="1773936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802368" y="17830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</a:t>
            </a:r>
            <a:endParaRPr lang="en-US" sz="720" dirty="0"/>
          </a:p>
        </p:txBody>
      </p:sp>
      <p:sp>
        <p:nvSpPr>
          <p:cNvPr id="37" name="Text 34"/>
          <p:cNvSpPr txBox="1"/>
          <p:nvPr/>
        </p:nvSpPr>
        <p:spPr>
          <a:xfrm>
            <a:off x="10332720" y="172821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content.ts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332720" y="204825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render docs</a:t>
            </a:r>
            <a:endParaRPr lang="en-US" sz="740" dirty="0"/>
          </a:p>
        </p:txBody>
      </p:sp>
      <p:sp>
        <p:nvSpPr>
          <p:cNvPr id="39" name="Shape 36"/>
          <p:cNvSpPr/>
          <p:nvPr/>
        </p:nvSpPr>
        <p:spPr>
          <a:xfrm>
            <a:off x="5486400" y="4224528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41848" y="4407408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0" y="441655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6199632" y="4361688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output.ts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6199632" y="468172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emit files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7552944" y="4224528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708392" y="4407408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35824" y="441655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8266176" y="4361688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storage.ts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266176" y="468172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 swap</a:t>
            </a:r>
            <a:endParaRPr lang="en-US" sz="740" dirty="0"/>
          </a:p>
        </p:txBody>
      </p:sp>
      <p:sp>
        <p:nvSpPr>
          <p:cNvPr id="49" name="Shape 46"/>
          <p:cNvSpPr/>
          <p:nvPr/>
        </p:nvSpPr>
        <p:spPr>
          <a:xfrm>
            <a:off x="9619488" y="4224528"/>
            <a:ext cx="1627632" cy="8778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774936" y="4407408"/>
            <a:ext cx="448056" cy="448056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802368" y="441655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0332720" y="4361688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contracts.ts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0332720" y="468172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shared types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4718304" y="2029968"/>
            <a:ext cx="768096" cy="850392"/>
          </a:xfrm>
          <a:prstGeom prst="lineInv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718304" y="2029968"/>
            <a:ext cx="2834640" cy="850392"/>
          </a:xfrm>
          <a:prstGeom prst="lineInv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4718304" y="2029968"/>
            <a:ext cx="4901184" cy="850392"/>
          </a:xfrm>
          <a:prstGeom prst="lineInv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4718304" y="3493008"/>
            <a:ext cx="768096" cy="117043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4718304" y="3493008"/>
            <a:ext cx="2834640" cy="1170432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4718304" y="3493008"/>
            <a:ext cx="4901184" cy="117043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5248656" y="2715768"/>
            <a:ext cx="6199632" cy="969264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486400" y="288036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80" kern="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 CONTRACT</a:t>
            </a:r>
            <a:endParaRPr lang="en-US" sz="840" dirty="0"/>
          </a:p>
        </p:txBody>
      </p:sp>
      <p:sp>
        <p:nvSpPr>
          <p:cNvPr id="62" name="Text 59"/>
          <p:cNvSpPr txBox="1"/>
          <p:nvPr/>
        </p:nvSpPr>
        <p:spPr>
          <a:xfrm>
            <a:off x="5486400" y="3182112"/>
            <a:ext cx="5705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220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static HTML · manifest · content · hashed runtime · _headers · ownership marker</a:t>
            </a:r>
            <a:endParaRPr lang="en-US" sz="860" dirty="0"/>
          </a:p>
        </p:txBody>
      </p:sp>
      <p:sp>
        <p:nvSpPr>
          <p:cNvPr id="63" name="Shape 60"/>
          <p:cNvSpPr/>
          <p:nvPr/>
        </p:nvSpPr>
        <p:spPr>
          <a:xfrm>
            <a:off x="621792" y="5102352"/>
            <a:ext cx="4096512" cy="694944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59536" y="5266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runtime/*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1746504" y="523036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output에 포함되지만 pipeline을 역참조하지 않음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909560" y="-1005840"/>
            <a:ext cx="5303520" cy="530352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0" y="3566160"/>
            <a:ext cx="3383280" cy="338328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640080"/>
            <a:ext cx="3017520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649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OPTIONAL · REFERENCE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353312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1298448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WAS·서버 통신 참조 아키텍처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719072" y="2862072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슬라이드는 EIAM의 현재 필수 구조가 아니다. 별도 API, 업무 트랜잭션, 실시간 데이터가 필요한 시스템을 설명할 때 복사해 쓰는 선택형 예제다.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719072" y="4416552"/>
            <a:ext cx="6446520" cy="0"/>
          </a:xfrm>
          <a:prstGeom prst="line">
            <a:avLst/>
          </a:prstGeom>
          <a:solidFill>
            <a:srgbClr val="334155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19072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 원칙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816352" y="4590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 1개 · 흐름 방향 1개 · 예외 경로는 별도 색상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참조 구조: 다계층 WAS 아키텍처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Edge → Application → Data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72768"/>
            <a:ext cx="2130552" cy="4343400"/>
          </a:xfrm>
          <a:prstGeom prst="roundRect">
            <a:avLst/>
          </a:prstGeom>
          <a:solidFill>
            <a:srgbClr val="CFFAFE">
              <a:alpha val="3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" y="17373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7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CHANNEL / EDGE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926080" y="1572768"/>
            <a:ext cx="5440680" cy="4343400"/>
          </a:xfrm>
          <a:prstGeom prst="roundRect">
            <a:avLst/>
          </a:prstGeom>
          <a:solidFill>
            <a:srgbClr val="DBEAFE">
              <a:alpha val="3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81528" y="1737360"/>
            <a:ext cx="5129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70" kern="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8595360" y="1572768"/>
            <a:ext cx="2990088" cy="4343400"/>
          </a:xfrm>
          <a:prstGeom prst="roundRect">
            <a:avLst/>
          </a:prstGeom>
          <a:solidFill>
            <a:srgbClr val="EDE9FE">
              <a:alpha val="3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0808" y="1737360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70" kern="0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/ INTEGRATION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795528" y="2212848"/>
            <a:ext cx="166420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50976" y="2395728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408" y="240487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235000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/ Mobile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26700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 · JSON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795528" y="3877056"/>
            <a:ext cx="166420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50976" y="4059936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78408" y="406908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WAF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40142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CDN + WAF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50876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TLS · rate limit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3182112" y="2157984"/>
            <a:ext cx="16916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7560" y="2340864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64992" y="235000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GW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3895344" y="2295144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3895344" y="261518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 · routing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5358384" y="1847088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513832" y="2029968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41264" y="2039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071616" y="198424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Pool A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071616" y="230428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stateless · autoscale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358384" y="3044952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513832" y="322783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41264" y="32369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6071616" y="318211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Pool B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071616" y="350215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stateless · autoscale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5358384" y="4242816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513832" y="442569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541264" y="44348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071616" y="437997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Worker Pool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6071616" y="470001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consumer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8887968" y="1847088"/>
            <a:ext cx="195681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043416" y="2029968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070848" y="20391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601200" y="1984248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Primary DB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9601200" y="230428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transaction data</a:t>
            </a:r>
            <a:endParaRPr lang="en-US" sz="740" dirty="0"/>
          </a:p>
        </p:txBody>
      </p:sp>
      <p:sp>
        <p:nvSpPr>
          <p:cNvPr id="52" name="Shape 49"/>
          <p:cNvSpPr/>
          <p:nvPr/>
        </p:nvSpPr>
        <p:spPr>
          <a:xfrm>
            <a:off x="8887968" y="3044952"/>
            <a:ext cx="195681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043416" y="3227832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070848" y="32369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RDS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9601200" y="3182112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 / Cache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9601200" y="35021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replica · Redis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8887968" y="4242816"/>
            <a:ext cx="195681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9043416" y="442569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070848" y="44348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MQ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9601200" y="4379976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 Broker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9601200" y="470001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 · DLQ</a:t>
            </a:r>
            <a:endParaRPr lang="en-US" sz="740" dirty="0"/>
          </a:p>
        </p:txBody>
      </p:sp>
      <p:sp>
        <p:nvSpPr>
          <p:cNvPr id="62" name="Shape 59"/>
          <p:cNvSpPr/>
          <p:nvPr/>
        </p:nvSpPr>
        <p:spPr>
          <a:xfrm>
            <a:off x="1627632" y="3172968"/>
            <a:ext cx="0" cy="704088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1060704" y="3401568"/>
            <a:ext cx="64008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60704" y="3410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740" dirty="0"/>
          </a:p>
        </p:txBody>
      </p:sp>
      <p:sp>
        <p:nvSpPr>
          <p:cNvPr id="65" name="Shape 62"/>
          <p:cNvSpPr/>
          <p:nvPr/>
        </p:nvSpPr>
        <p:spPr>
          <a:xfrm>
            <a:off x="2459736" y="2633472"/>
            <a:ext cx="722376" cy="1719072"/>
          </a:xfrm>
          <a:prstGeom prst="lineInv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6" name="Shape 63"/>
          <p:cNvSpPr/>
          <p:nvPr/>
        </p:nvSpPr>
        <p:spPr>
          <a:xfrm>
            <a:off x="2514600" y="3163824"/>
            <a:ext cx="53035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514600" y="317296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TLS</a:t>
            </a:r>
            <a:endParaRPr lang="en-US" sz="740" dirty="0"/>
          </a:p>
        </p:txBody>
      </p:sp>
      <p:sp>
        <p:nvSpPr>
          <p:cNvPr id="68" name="Shape 65"/>
          <p:cNvSpPr/>
          <p:nvPr/>
        </p:nvSpPr>
        <p:spPr>
          <a:xfrm>
            <a:off x="4873752" y="2633472"/>
            <a:ext cx="48463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Shape 66"/>
          <p:cNvSpPr/>
          <p:nvPr/>
        </p:nvSpPr>
        <p:spPr>
          <a:xfrm>
            <a:off x="4695444" y="2322576"/>
            <a:ext cx="84124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695444" y="23317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REST/gRPC</a:t>
            </a:r>
            <a:endParaRPr lang="en-US" sz="740" dirty="0"/>
          </a:p>
        </p:txBody>
      </p:sp>
      <p:sp>
        <p:nvSpPr>
          <p:cNvPr id="71" name="Shape 68"/>
          <p:cNvSpPr/>
          <p:nvPr/>
        </p:nvSpPr>
        <p:spPr>
          <a:xfrm>
            <a:off x="4873752" y="2724912"/>
            <a:ext cx="484632" cy="786384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7232904" y="2331720"/>
            <a:ext cx="1655064" cy="0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73" name="Shape 70"/>
          <p:cNvSpPr/>
          <p:nvPr/>
        </p:nvSpPr>
        <p:spPr>
          <a:xfrm>
            <a:off x="7808976" y="2029968"/>
            <a:ext cx="50292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7808976" y="20391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740" dirty="0"/>
          </a:p>
        </p:txBody>
      </p:sp>
      <p:sp>
        <p:nvSpPr>
          <p:cNvPr id="75" name="Shape 72"/>
          <p:cNvSpPr/>
          <p:nvPr/>
        </p:nvSpPr>
        <p:spPr>
          <a:xfrm>
            <a:off x="7232904" y="3529584"/>
            <a:ext cx="1655064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7648956" y="3218688"/>
            <a:ext cx="822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648956" y="3227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read/cache</a:t>
            </a:r>
            <a:endParaRPr lang="en-US" sz="740" dirty="0"/>
          </a:p>
        </p:txBody>
      </p:sp>
      <p:sp>
        <p:nvSpPr>
          <p:cNvPr id="78" name="Shape 75"/>
          <p:cNvSpPr/>
          <p:nvPr/>
        </p:nvSpPr>
        <p:spPr>
          <a:xfrm>
            <a:off x="7232904" y="4727448"/>
            <a:ext cx="1655064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9" name="Shape 76"/>
          <p:cNvSpPr/>
          <p:nvPr/>
        </p:nvSpPr>
        <p:spPr>
          <a:xfrm>
            <a:off x="7740396" y="4425696"/>
            <a:ext cx="64008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740396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events</a:t>
            </a:r>
            <a:endParaRPr lang="en-US" sz="740" dirty="0"/>
          </a:p>
        </p:txBody>
      </p:sp>
      <p:sp>
        <p:nvSpPr>
          <p:cNvPr id="81" name="Shape 78"/>
          <p:cNvSpPr/>
          <p:nvPr/>
        </p:nvSpPr>
        <p:spPr>
          <a:xfrm>
            <a:off x="3172968" y="5276088"/>
            <a:ext cx="405079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3364992" y="536752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 WAS는 stateless · 세션/상태는 외부 저장소 · 쓰기는 트랜잭션 경계 안에서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 서버 통신은 지연 예산과 실패 경계를 함께 그린다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REST/gRPC · timeout · retry · circuit breaker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240280"/>
            <a:ext cx="150876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42316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377440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269748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request-id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468880" y="2240280"/>
            <a:ext cx="160020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24328" y="242316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51760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GW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182112" y="237744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Gateway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182112" y="269748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 + limit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4407408" y="2240280"/>
            <a:ext cx="160020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62856" y="242316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90288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120640" y="237744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120640" y="269748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· orchestrator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6345936" y="2240280"/>
            <a:ext cx="160020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01384" y="242316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28816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INV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059168" y="237744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059168" y="269748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gRPC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8284464" y="2240280"/>
            <a:ext cx="160020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39912" y="2423160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67344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997696" y="2377440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Payment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997696" y="2697480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10222992" y="2240280"/>
            <a:ext cx="1325880" cy="9418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378440" y="2423160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405872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936224" y="2377440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PG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0936224" y="269748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2130552" y="2715768"/>
            <a:ext cx="33832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769364" y="1993392"/>
            <a:ext cx="106070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769364" y="200253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HTTPS 2s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4069080" y="2715768"/>
            <a:ext cx="33832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3707892" y="1993392"/>
            <a:ext cx="106070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707892" y="200253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internal 1.5s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6007608" y="2715768"/>
            <a:ext cx="338328" cy="0"/>
          </a:xfrm>
          <a:prstGeom prst="line">
            <a:avLst/>
          </a:prstGeom>
          <a:noFill/>
          <a:ln w="2159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646420" y="1993392"/>
            <a:ext cx="106070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46420" y="200253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gRPC 300ms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7946136" y="2715768"/>
            <a:ext cx="338328" cy="0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7584948" y="1993392"/>
            <a:ext cx="106070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584948" y="200253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REST 800ms</a:t>
            </a:r>
            <a:endParaRPr lang="en-US" sz="740" dirty="0"/>
          </a:p>
        </p:txBody>
      </p:sp>
      <p:sp>
        <p:nvSpPr>
          <p:cNvPr id="53" name="Shape 50"/>
          <p:cNvSpPr/>
          <p:nvPr/>
        </p:nvSpPr>
        <p:spPr>
          <a:xfrm>
            <a:off x="9884664" y="2715768"/>
            <a:ext cx="338328" cy="0"/>
          </a:xfrm>
          <a:prstGeom prst="line">
            <a:avLst/>
          </a:prstGeom>
          <a:noFill/>
          <a:ln w="2159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523476" y="1993392"/>
            <a:ext cx="1060704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523476" y="200253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TLS 600ms</a:t>
            </a:r>
            <a:endParaRPr lang="en-US" sz="740" dirty="0"/>
          </a:p>
        </p:txBody>
      </p:sp>
      <p:sp>
        <p:nvSpPr>
          <p:cNvPr id="56" name="Shape 53"/>
          <p:cNvSpPr/>
          <p:nvPr/>
        </p:nvSpPr>
        <p:spPr>
          <a:xfrm>
            <a:off x="621792" y="3566160"/>
            <a:ext cx="10963656" cy="621792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41248" y="3749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지연 예산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1645920" y="3685032"/>
            <a:ext cx="9555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응답 600 ms + 결제 200 ms + 재고 150 ms + 애플리케이션 250 ms + 네트워크/여유 300 ms = 1.5 s</a:t>
            </a:r>
            <a:endParaRPr lang="en-US" sz="880" dirty="0"/>
          </a:p>
        </p:txBody>
      </p:sp>
      <p:sp>
        <p:nvSpPr>
          <p:cNvPr id="59" name="Shape 56"/>
          <p:cNvSpPr/>
          <p:nvPr/>
        </p:nvSpPr>
        <p:spPr>
          <a:xfrm>
            <a:off x="621792" y="4535424"/>
            <a:ext cx="1975104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21792" y="4535424"/>
            <a:ext cx="73152" cy="11247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41248" y="4736592"/>
            <a:ext cx="429768" cy="429768"/>
          </a:xfrm>
          <a:prstGeom prst="roundRect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68680" y="4745736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63" name="Text 60"/>
          <p:cNvSpPr txBox="1"/>
          <p:nvPr/>
        </p:nvSpPr>
        <p:spPr>
          <a:xfrm>
            <a:off x="1389888" y="47183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</a:t>
            </a:r>
            <a:endParaRPr lang="en-US" sz="1230" dirty="0"/>
          </a:p>
        </p:txBody>
      </p:sp>
      <p:sp>
        <p:nvSpPr>
          <p:cNvPr id="64" name="Text 61"/>
          <p:cNvSpPr txBox="1"/>
          <p:nvPr/>
        </p:nvSpPr>
        <p:spPr>
          <a:xfrm>
            <a:off x="877824" y="52395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timeout &gt; 하위 합계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무한 대기 금지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2834640" y="4535424"/>
            <a:ext cx="1975104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2834640" y="4535424"/>
            <a:ext cx="73152" cy="11247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054096" y="4736592"/>
            <a:ext cx="429768" cy="429768"/>
          </a:xfrm>
          <a:prstGeom prst="round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081528" y="4745736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69" name="Text 66"/>
          <p:cNvSpPr txBox="1"/>
          <p:nvPr/>
        </p:nvSpPr>
        <p:spPr>
          <a:xfrm>
            <a:off x="3602736" y="47183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</a:t>
            </a:r>
            <a:endParaRPr lang="en-US" sz="1230" dirty="0"/>
          </a:p>
        </p:txBody>
      </p:sp>
      <p:sp>
        <p:nvSpPr>
          <p:cNvPr id="70" name="Text 67"/>
          <p:cNvSpPr txBox="1"/>
          <p:nvPr/>
        </p:nvSpPr>
        <p:spPr>
          <a:xfrm>
            <a:off x="3090672" y="52395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GET·멱등 요청만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jitter + 최대 횟수</a:t>
            </a:r>
            <a:endParaRPr lang="en-US" sz="930" dirty="0"/>
          </a:p>
        </p:txBody>
      </p:sp>
      <p:sp>
        <p:nvSpPr>
          <p:cNvPr id="71" name="Shape 68"/>
          <p:cNvSpPr/>
          <p:nvPr/>
        </p:nvSpPr>
        <p:spPr>
          <a:xfrm>
            <a:off x="5047488" y="4535424"/>
            <a:ext cx="1975104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5047488" y="4535424"/>
            <a:ext cx="73152" cy="1124712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266944" y="4736592"/>
            <a:ext cx="429768" cy="429768"/>
          </a:xfrm>
          <a:prstGeom prst="roundRect">
            <a:avLst/>
          </a:prstGeom>
          <a:solidFill>
            <a:srgbClr val="F43F5E">
              <a:alpha val="16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294376" y="4745736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75" name="Text 72"/>
          <p:cNvSpPr txBox="1"/>
          <p:nvPr/>
        </p:nvSpPr>
        <p:spPr>
          <a:xfrm>
            <a:off x="5815584" y="47183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CIRCUIT</a:t>
            </a:r>
            <a:endParaRPr lang="en-US" sz="1230" dirty="0"/>
          </a:p>
        </p:txBody>
      </p:sp>
      <p:sp>
        <p:nvSpPr>
          <p:cNvPr id="76" name="Text 73"/>
          <p:cNvSpPr txBox="1"/>
          <p:nvPr/>
        </p:nvSpPr>
        <p:spPr>
          <a:xfrm>
            <a:off x="5303520" y="52395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연속 실패 시 차단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fallback 명시</a:t>
            </a:r>
            <a:endParaRPr lang="en-US" sz="930" dirty="0"/>
          </a:p>
        </p:txBody>
      </p:sp>
      <p:sp>
        <p:nvSpPr>
          <p:cNvPr id="77" name="Shape 74"/>
          <p:cNvSpPr/>
          <p:nvPr/>
        </p:nvSpPr>
        <p:spPr>
          <a:xfrm>
            <a:off x="7260336" y="4535424"/>
            <a:ext cx="1975104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7260336" y="4535424"/>
            <a:ext cx="73152" cy="112471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479792" y="4736592"/>
            <a:ext cx="429768" cy="429768"/>
          </a:xfrm>
          <a:prstGeom prst="round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507224" y="4745736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20" dirty="0"/>
          </a:p>
        </p:txBody>
      </p:sp>
      <p:sp>
        <p:nvSpPr>
          <p:cNvPr id="81" name="Text 78"/>
          <p:cNvSpPr txBox="1"/>
          <p:nvPr/>
        </p:nvSpPr>
        <p:spPr>
          <a:xfrm>
            <a:off x="8028432" y="47183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IDENTITY</a:t>
            </a:r>
            <a:endParaRPr lang="en-US" sz="1230" dirty="0"/>
          </a:p>
        </p:txBody>
      </p:sp>
      <p:sp>
        <p:nvSpPr>
          <p:cNvPr id="82" name="Text 79"/>
          <p:cNvSpPr txBox="1"/>
          <p:nvPr/>
        </p:nvSpPr>
        <p:spPr>
          <a:xfrm>
            <a:off x="7516368" y="52395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mTLS/service token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권한</a:t>
            </a:r>
            <a:endParaRPr lang="en-US" sz="930" dirty="0"/>
          </a:p>
        </p:txBody>
      </p:sp>
      <p:sp>
        <p:nvSpPr>
          <p:cNvPr id="83" name="Shape 80"/>
          <p:cNvSpPr/>
          <p:nvPr/>
        </p:nvSpPr>
        <p:spPr>
          <a:xfrm>
            <a:off x="9473184" y="4535424"/>
            <a:ext cx="1975104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84" name="Shape 81"/>
          <p:cNvSpPr/>
          <p:nvPr/>
        </p:nvSpPr>
        <p:spPr>
          <a:xfrm>
            <a:off x="9473184" y="4535424"/>
            <a:ext cx="73152" cy="112471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692640" y="4736592"/>
            <a:ext cx="429768" cy="429768"/>
          </a:xfrm>
          <a:prstGeom prst="roundRect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9720072" y="4745736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20" dirty="0"/>
          </a:p>
        </p:txBody>
      </p:sp>
      <p:sp>
        <p:nvSpPr>
          <p:cNvPr id="87" name="Text 84"/>
          <p:cNvSpPr txBox="1"/>
          <p:nvPr/>
        </p:nvSpPr>
        <p:spPr>
          <a:xfrm>
            <a:off x="10241280" y="47183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</a:t>
            </a:r>
            <a:endParaRPr lang="en-US" sz="1230" dirty="0"/>
          </a:p>
        </p:txBody>
      </p:sp>
      <p:sp>
        <p:nvSpPr>
          <p:cNvPr id="88" name="Text 85"/>
          <p:cNvSpPr txBox="1"/>
          <p:nvPr/>
        </p:nvSpPr>
        <p:spPr>
          <a:xfrm>
            <a:off x="9729216" y="52395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trace-id 전 구간 전파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민감값 제외</a:t>
            </a:r>
            <a:endParaRPr lang="en-US" sz="9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시퀀스 다이어그램: 성공과 실패를 같은 시간축에 둔다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주문 생성 · 보상 가능한 결제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49808" y="1554480"/>
            <a:ext cx="1225296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62456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40864" y="1554480"/>
            <a:ext cx="1225296" cy="43891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14016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Gateway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953512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78224" y="1554480"/>
            <a:ext cx="1225296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51376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WAS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90872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25312" y="1554480"/>
            <a:ext cx="1225296" cy="43891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98464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Inventory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537960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17536" y="1554480"/>
            <a:ext cx="1225296" cy="43891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Payment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330184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56064" y="1554480"/>
            <a:ext cx="1225296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29216" y="16642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/ Outbox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0268712" y="1993392"/>
            <a:ext cx="0" cy="37673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62456" y="2267712"/>
            <a:ext cx="159105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87552" y="205740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7552" y="206654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 POST /orders · Idempotency-Key</a:t>
            </a:r>
            <a:endParaRPr lang="en-US" sz="670" dirty="0"/>
          </a:p>
        </p:txBody>
      </p:sp>
      <p:sp>
        <p:nvSpPr>
          <p:cNvPr id="32" name="Shape 29"/>
          <p:cNvSpPr/>
          <p:nvPr/>
        </p:nvSpPr>
        <p:spPr>
          <a:xfrm>
            <a:off x="2953512" y="2633472"/>
            <a:ext cx="1737360" cy="0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651760" y="242316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651760" y="243230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 auth context + request-id</a:t>
            </a:r>
            <a:endParaRPr lang="en-US" sz="670" dirty="0"/>
          </a:p>
        </p:txBody>
      </p:sp>
      <p:sp>
        <p:nvSpPr>
          <p:cNvPr id="35" name="Shape 32"/>
          <p:cNvSpPr/>
          <p:nvPr/>
        </p:nvSpPr>
        <p:spPr>
          <a:xfrm>
            <a:off x="4690872" y="2999232"/>
            <a:ext cx="18470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443984" y="278892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43984" y="279806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 reserve(items) · 300 ms</a:t>
            </a:r>
            <a:endParaRPr lang="en-US" sz="670" dirty="0"/>
          </a:p>
        </p:txBody>
      </p:sp>
      <p:sp>
        <p:nvSpPr>
          <p:cNvPr id="38" name="Shape 35"/>
          <p:cNvSpPr/>
          <p:nvPr/>
        </p:nvSpPr>
        <p:spPr>
          <a:xfrm>
            <a:off x="4690872" y="3364992"/>
            <a:ext cx="18470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  <a:headEnd type="triangl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4443984" y="315468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43984" y="316382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 reservationId</a:t>
            </a:r>
            <a:endParaRPr lang="en-US" sz="670" dirty="0"/>
          </a:p>
        </p:txBody>
      </p:sp>
      <p:sp>
        <p:nvSpPr>
          <p:cNvPr id="41" name="Shape 38"/>
          <p:cNvSpPr/>
          <p:nvPr/>
        </p:nvSpPr>
        <p:spPr>
          <a:xfrm>
            <a:off x="4690872" y="3730752"/>
            <a:ext cx="3639312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5340096" y="352044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340096" y="352958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 authorize(amount) · 800 ms</a:t>
            </a:r>
            <a:endParaRPr lang="en-US" sz="670" dirty="0"/>
          </a:p>
        </p:txBody>
      </p:sp>
      <p:sp>
        <p:nvSpPr>
          <p:cNvPr id="44" name="Shape 41"/>
          <p:cNvSpPr/>
          <p:nvPr/>
        </p:nvSpPr>
        <p:spPr>
          <a:xfrm>
            <a:off x="4690872" y="4096512"/>
            <a:ext cx="3639312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headEnd type="triangl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5340096" y="388620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340096" y="389534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 approved / declined</a:t>
            </a:r>
            <a:endParaRPr lang="en-US" sz="670" dirty="0"/>
          </a:p>
        </p:txBody>
      </p:sp>
      <p:sp>
        <p:nvSpPr>
          <p:cNvPr id="47" name="Shape 44"/>
          <p:cNvSpPr/>
          <p:nvPr/>
        </p:nvSpPr>
        <p:spPr>
          <a:xfrm>
            <a:off x="4690872" y="4873752"/>
            <a:ext cx="55778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309360" y="4663440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09360" y="467258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  TX: order + outbox</a:t>
            </a:r>
            <a:endParaRPr lang="en-US" sz="670" dirty="0"/>
          </a:p>
        </p:txBody>
      </p:sp>
      <p:sp>
        <p:nvSpPr>
          <p:cNvPr id="50" name="Shape 47"/>
          <p:cNvSpPr/>
          <p:nvPr/>
        </p:nvSpPr>
        <p:spPr>
          <a:xfrm>
            <a:off x="1362456" y="5321808"/>
            <a:ext cx="3328416" cy="0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headEnd type="triangle"/>
            <a:tailEnd type="none"/>
          </a:ln>
        </p:spPr>
      </p:sp>
      <p:sp>
        <p:nvSpPr>
          <p:cNvPr id="51" name="Shape 48"/>
          <p:cNvSpPr/>
          <p:nvPr/>
        </p:nvSpPr>
        <p:spPr>
          <a:xfrm>
            <a:off x="1856232" y="5111496"/>
            <a:ext cx="2340864" cy="210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856232" y="5120640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  201 Created · orderId</a:t>
            </a:r>
            <a:endParaRPr lang="en-US" sz="670" dirty="0"/>
          </a:p>
        </p:txBody>
      </p:sp>
      <p:sp>
        <p:nvSpPr>
          <p:cNvPr id="53" name="Shape 50"/>
          <p:cNvSpPr/>
          <p:nvPr/>
        </p:nvSpPr>
        <p:spPr>
          <a:xfrm>
            <a:off x="3822192" y="4178808"/>
            <a:ext cx="4965192" cy="420624"/>
          </a:xfrm>
          <a:prstGeom prst="roundRect">
            <a:avLst/>
          </a:prstGeom>
          <a:solidFill>
            <a:srgbClr val="FFE4E6">
              <a:alpha val="86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005072" y="42702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ALT · 결제 거절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5065776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reservation release + FAILED 상태 · 재시도 대신 사용자 확인</a:t>
            </a:r>
            <a:endParaRPr lang="en-US" sz="720" dirty="0"/>
          </a:p>
        </p:txBody>
      </p:sp>
      <p:sp>
        <p:nvSpPr>
          <p:cNvPr id="56" name="Shape 53"/>
          <p:cNvSpPr/>
          <p:nvPr/>
        </p:nvSpPr>
        <p:spPr>
          <a:xfrm>
            <a:off x="749808" y="5870448"/>
            <a:ext cx="10131552" cy="27432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41832" y="5925312"/>
            <a:ext cx="9747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표기 규칙  실선=동기 · 점선=비동기/관측 · Rose=대체/실패 · 각 호출에 timeout 또는 완료 조건 기입</a:t>
            </a:r>
            <a:endParaRPr lang="en-US" sz="7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 이벤트는 전달 보장과 중복 처리까지 설계한다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Transactional outbox · broker · DLQ · replay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395728"/>
            <a:ext cx="163677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578608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58775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532888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WAS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2852928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producer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743200" y="1810512"/>
            <a:ext cx="17373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98648" y="1993392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6080" y="200253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456432" y="194767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tables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456432" y="226771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data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2743200" y="3273552"/>
            <a:ext cx="17373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898648" y="3456432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6080" y="34655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456432" y="341071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Outbox table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456432" y="373075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same transaction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065776" y="3273552"/>
            <a:ext cx="1627632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221224" y="3456432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48656" y="34655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RLY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779008" y="3410712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Relay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779008" y="3730752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poll / CDC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7242048" y="3273552"/>
            <a:ext cx="16916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397496" y="3456432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24928" y="346557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MQ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955280" y="3410712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Broker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3730752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partitioned topic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9528048" y="1536192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683496" y="171907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10928" y="172821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NTF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241280" y="167335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0241280" y="199339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email / push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9528048" y="2788920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683496" y="2971800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710928" y="298094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0241280" y="29260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10241280" y="3246120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warehouse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9528048" y="4041648"/>
            <a:ext cx="1874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9683496" y="4224528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710928" y="423367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0241280" y="417880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Fulfillment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10241280" y="449884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workflow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2258568" y="2286000"/>
            <a:ext cx="484632" cy="576072"/>
          </a:xfrm>
          <a:prstGeom prst="lineInv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2331720" y="2359152"/>
            <a:ext cx="43891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331720" y="23682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2258568" y="2862072"/>
            <a:ext cx="484632" cy="86868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480560" y="3749040"/>
            <a:ext cx="585216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4370832" y="3447288"/>
            <a:ext cx="80467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370832" y="34564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unpublished</a:t>
            </a:r>
            <a:endParaRPr lang="en-US" sz="740" dirty="0"/>
          </a:p>
        </p:txBody>
      </p:sp>
      <p:sp>
        <p:nvSpPr>
          <p:cNvPr id="58" name="Shape 55"/>
          <p:cNvSpPr/>
          <p:nvPr/>
        </p:nvSpPr>
        <p:spPr>
          <a:xfrm>
            <a:off x="6693408" y="3749040"/>
            <a:ext cx="54864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638544" y="3447288"/>
            <a:ext cx="65836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638544" y="3456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</a:t>
            </a:r>
            <a:endParaRPr lang="en-US" sz="740" dirty="0"/>
          </a:p>
        </p:txBody>
      </p:sp>
      <p:sp>
        <p:nvSpPr>
          <p:cNvPr id="61" name="Shape 58"/>
          <p:cNvSpPr/>
          <p:nvPr/>
        </p:nvSpPr>
        <p:spPr>
          <a:xfrm>
            <a:off x="8933688" y="2011680"/>
            <a:ext cx="594360" cy="1737360"/>
          </a:xfrm>
          <a:prstGeom prst="lineInv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8933688" y="3264408"/>
            <a:ext cx="594360" cy="484632"/>
          </a:xfrm>
          <a:prstGeom prst="lineInv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8933688" y="3749040"/>
            <a:ext cx="594360" cy="768096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5065776" y="5001768"/>
            <a:ext cx="3867912" cy="612648"/>
          </a:xfrm>
          <a:prstGeom prst="roundRect">
            <a:avLst/>
          </a:prstGeom>
          <a:solidFill>
            <a:srgbClr val="FFE4E6"/>
          </a:solidFill>
          <a:ln w="11430">
            <a:solidFill>
              <a:srgbClr val="F43F5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303520" y="5157216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DLQ + REPLAY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6336792" y="511149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error context · retry count · operator approval</a:t>
            </a:r>
            <a:endParaRPr lang="en-US" sz="720" dirty="0"/>
          </a:p>
        </p:txBody>
      </p:sp>
      <p:sp>
        <p:nvSpPr>
          <p:cNvPr id="67" name="Shape 64"/>
          <p:cNvSpPr/>
          <p:nvPr/>
        </p:nvSpPr>
        <p:spPr>
          <a:xfrm>
            <a:off x="8083296" y="4215384"/>
            <a:ext cx="0" cy="786384"/>
          </a:xfrm>
          <a:prstGeom prst="line">
            <a:avLst/>
          </a:prstGeom>
          <a:noFill/>
          <a:ln w="2032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68" name="Shape 65"/>
          <p:cNvSpPr/>
          <p:nvPr/>
        </p:nvSpPr>
        <p:spPr>
          <a:xfrm>
            <a:off x="7516368" y="4535424"/>
            <a:ext cx="713232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516368" y="45445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exhausted</a:t>
            </a:r>
            <a:endParaRPr lang="en-US" sz="740" dirty="0"/>
          </a:p>
        </p:txBody>
      </p:sp>
      <p:sp>
        <p:nvSpPr>
          <p:cNvPr id="70" name="Shape 67"/>
          <p:cNvSpPr/>
          <p:nvPr/>
        </p:nvSpPr>
        <p:spPr>
          <a:xfrm>
            <a:off x="621792" y="5815584"/>
            <a:ext cx="2267712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49808" y="587959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Delivery</a:t>
            </a:r>
            <a:endParaRPr lang="en-US" sz="720" dirty="0"/>
          </a:p>
        </p:txBody>
      </p:sp>
      <p:sp>
        <p:nvSpPr>
          <p:cNvPr id="72" name="Text 69"/>
          <p:cNvSpPr txBox="1"/>
          <p:nvPr/>
        </p:nvSpPr>
        <p:spPr>
          <a:xfrm>
            <a:off x="1353312" y="5879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at-least-once</a:t>
            </a:r>
            <a:endParaRPr lang="en-US" sz="730" dirty="0"/>
          </a:p>
        </p:txBody>
      </p:sp>
      <p:sp>
        <p:nvSpPr>
          <p:cNvPr id="73" name="Shape 70"/>
          <p:cNvSpPr/>
          <p:nvPr/>
        </p:nvSpPr>
        <p:spPr>
          <a:xfrm>
            <a:off x="3127248" y="5815584"/>
            <a:ext cx="2267712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255264" y="587959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Ordering</a:t>
            </a:r>
            <a:endParaRPr lang="en-US" sz="720" dirty="0"/>
          </a:p>
        </p:txBody>
      </p:sp>
      <p:sp>
        <p:nvSpPr>
          <p:cNvPr id="75" name="Text 72"/>
          <p:cNvSpPr txBox="1"/>
          <p:nvPr/>
        </p:nvSpPr>
        <p:spPr>
          <a:xfrm>
            <a:off x="3858768" y="5879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aggregate key</a:t>
            </a:r>
            <a:endParaRPr lang="en-US" sz="730" dirty="0"/>
          </a:p>
        </p:txBody>
      </p:sp>
      <p:sp>
        <p:nvSpPr>
          <p:cNvPr id="76" name="Shape 73"/>
          <p:cNvSpPr/>
          <p:nvPr/>
        </p:nvSpPr>
        <p:spPr>
          <a:xfrm>
            <a:off x="5632704" y="5815584"/>
            <a:ext cx="2267712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760720" y="587959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Dedupe</a:t>
            </a:r>
            <a:endParaRPr lang="en-US" sz="720" dirty="0"/>
          </a:p>
        </p:txBody>
      </p:sp>
      <p:sp>
        <p:nvSpPr>
          <p:cNvPr id="78" name="Text 75"/>
          <p:cNvSpPr txBox="1"/>
          <p:nvPr/>
        </p:nvSpPr>
        <p:spPr>
          <a:xfrm>
            <a:off x="6364224" y="5879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event-id inbox</a:t>
            </a:r>
            <a:endParaRPr lang="en-US" sz="730" dirty="0"/>
          </a:p>
        </p:txBody>
      </p:sp>
      <p:sp>
        <p:nvSpPr>
          <p:cNvPr id="79" name="Shape 76"/>
          <p:cNvSpPr/>
          <p:nvPr/>
        </p:nvSpPr>
        <p:spPr>
          <a:xfrm>
            <a:off x="8138160" y="5815584"/>
            <a:ext cx="2267712" cy="32918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8266176" y="587959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</a:t>
            </a:r>
            <a:endParaRPr lang="en-US" sz="720" dirty="0"/>
          </a:p>
        </p:txBody>
      </p:sp>
      <p:sp>
        <p:nvSpPr>
          <p:cNvPr id="81" name="Text 78"/>
          <p:cNvSpPr txBox="1"/>
          <p:nvPr/>
        </p:nvSpPr>
        <p:spPr>
          <a:xfrm>
            <a:off x="8869680" y="5879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7C3A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version + compatibility</a:t>
            </a:r>
            <a:endParaRPr lang="en-US" sz="7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보안은 신뢰 경계마다 다시 확인한다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identity · policy · secret · data classification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572768"/>
            <a:ext cx="212140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1755648"/>
            <a:ext cx="1755648" cy="274320"/>
          </a:xfrm>
          <a:prstGeom prst="roundRect">
            <a:avLst/>
          </a:prstGeom>
          <a:solidFill>
            <a:srgbClr val="F43F5E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1764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0" y="1572768"/>
            <a:ext cx="2505456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08960" y="1755648"/>
            <a:ext cx="2139696" cy="274320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0" y="17647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EDGE / DMZ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1572768"/>
            <a:ext cx="2816352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1755648"/>
            <a:ext cx="2450592" cy="27432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0" y="17647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 ZONE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1572768"/>
            <a:ext cx="2862072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06256" y="1755648"/>
            <a:ext cx="2496312" cy="274320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97696" y="17647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ZONE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04672" y="2414016"/>
            <a:ext cx="16459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60120" y="2596896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7552" y="26060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517904" y="2551176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 / Partner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517904" y="287121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untrusted input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3273552" y="2231136"/>
            <a:ext cx="1810512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29000" y="2414016"/>
            <a:ext cx="448056" cy="4480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56432" y="242316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WAF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986784" y="2368296"/>
            <a:ext cx="969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WAF / Gateway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986784" y="2688336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OIDC · rate limit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3273552" y="3886200"/>
            <a:ext cx="1810512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429000" y="406908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56432" y="4078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IAM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3986784" y="4023360"/>
            <a:ext cx="969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Identity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3986784" y="4343400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token issuer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6053328" y="2231136"/>
            <a:ext cx="204825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08776" y="2414016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36208" y="242316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2368296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 identity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268833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mTLS · workload ID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6053328" y="3886200"/>
            <a:ext cx="204825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08776" y="406908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36208" y="4078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766560" y="4023360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Policy decision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66560" y="43434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RBAC / ABAC</a:t>
            </a:r>
            <a:endParaRPr lang="en-US" sz="740" dirty="0"/>
          </a:p>
        </p:txBody>
      </p:sp>
      <p:sp>
        <p:nvSpPr>
          <p:cNvPr id="48" name="Shape 45"/>
          <p:cNvSpPr/>
          <p:nvPr/>
        </p:nvSpPr>
        <p:spPr>
          <a:xfrm>
            <a:off x="9070848" y="2231136"/>
            <a:ext cx="21488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226296" y="2414016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53728" y="242316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9784080" y="2368296"/>
            <a:ext cx="1307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Encrypted data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9784080" y="268833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 rest + in transit</a:t>
            </a:r>
            <a:endParaRPr lang="en-US" sz="740" dirty="0"/>
          </a:p>
        </p:txBody>
      </p:sp>
      <p:sp>
        <p:nvSpPr>
          <p:cNvPr id="53" name="Shape 50"/>
          <p:cNvSpPr/>
          <p:nvPr/>
        </p:nvSpPr>
        <p:spPr>
          <a:xfrm>
            <a:off x="9070848" y="3886200"/>
            <a:ext cx="21488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9226296" y="4069080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253728" y="40782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KMS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9784080" y="4023360"/>
            <a:ext cx="1307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 / Key store</a:t>
            </a:r>
            <a:endParaRPr lang="en-US" sz="1050" dirty="0"/>
          </a:p>
        </p:txBody>
      </p:sp>
      <p:sp>
        <p:nvSpPr>
          <p:cNvPr id="57" name="Text 54"/>
          <p:cNvSpPr txBox="1"/>
          <p:nvPr/>
        </p:nvSpPr>
        <p:spPr>
          <a:xfrm>
            <a:off x="9784080" y="4343400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rotation · audit</a:t>
            </a:r>
            <a:endParaRPr lang="en-US" sz="740" dirty="0"/>
          </a:p>
        </p:txBody>
      </p:sp>
      <p:sp>
        <p:nvSpPr>
          <p:cNvPr id="58" name="Shape 55"/>
          <p:cNvSpPr/>
          <p:nvPr/>
        </p:nvSpPr>
        <p:spPr>
          <a:xfrm>
            <a:off x="2450592" y="2898648"/>
            <a:ext cx="822960" cy="0"/>
          </a:xfrm>
          <a:prstGeom prst="line">
            <a:avLst/>
          </a:prstGeom>
          <a:noFill/>
          <a:ln w="2032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2450592" y="2578608"/>
            <a:ext cx="82296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450592" y="2587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TLS + token</a:t>
            </a:r>
            <a:endParaRPr lang="en-US" sz="740" dirty="0"/>
          </a:p>
        </p:txBody>
      </p:sp>
      <p:sp>
        <p:nvSpPr>
          <p:cNvPr id="61" name="Shape 58"/>
          <p:cNvSpPr/>
          <p:nvPr/>
        </p:nvSpPr>
        <p:spPr>
          <a:xfrm>
            <a:off x="5084064" y="2706624"/>
            <a:ext cx="96926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5088636" y="2386584"/>
            <a:ext cx="96012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088636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verified claims</a:t>
            </a:r>
            <a:endParaRPr lang="en-US" sz="740" dirty="0"/>
          </a:p>
        </p:txBody>
      </p:sp>
      <p:sp>
        <p:nvSpPr>
          <p:cNvPr id="64" name="Shape 61"/>
          <p:cNvSpPr/>
          <p:nvPr/>
        </p:nvSpPr>
        <p:spPr>
          <a:xfrm>
            <a:off x="8101584" y="2706624"/>
            <a:ext cx="969264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8106156" y="2386584"/>
            <a:ext cx="960120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106156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</a:t>
            </a:r>
            <a:endParaRPr lang="en-US" sz="740" dirty="0"/>
          </a:p>
        </p:txBody>
      </p:sp>
      <p:sp>
        <p:nvSpPr>
          <p:cNvPr id="67" name="Shape 64"/>
          <p:cNvSpPr/>
          <p:nvPr/>
        </p:nvSpPr>
        <p:spPr>
          <a:xfrm>
            <a:off x="658368" y="5943600"/>
            <a:ext cx="2468880" cy="27432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86384" y="5998464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인증 · 누구인가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3401568" y="5943600"/>
            <a:ext cx="2468880" cy="27432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529584" y="5998464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인가 · 무엇을 할 수 있나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6144768" y="5943600"/>
            <a:ext cx="2468880" cy="27432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272784" y="5998464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· 어떤 데이터인가</a:t>
            </a:r>
            <a:endParaRPr lang="en-US" sz="720" dirty="0"/>
          </a:p>
        </p:txBody>
      </p:sp>
      <p:sp>
        <p:nvSpPr>
          <p:cNvPr id="73" name="Shape 70"/>
          <p:cNvSpPr/>
          <p:nvPr/>
        </p:nvSpPr>
        <p:spPr>
          <a:xfrm>
            <a:off x="8887968" y="5943600"/>
            <a:ext cx="2468880" cy="274320"/>
          </a:xfrm>
          <a:prstGeom prst="roundRect">
            <a:avLst/>
          </a:prstGeom>
          <a:solidFill>
            <a:srgbClr val="0B1220"/>
          </a:solidFill>
          <a:ln w="8890">
            <a:solidFill>
              <a:srgbClr val="0B122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9015984" y="5998464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 · 누가 무엇을 했나</a:t>
            </a:r>
            <a:endParaRPr lang="en-US" sz="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고가용성은 중복보다 장애 단위를 먼저 정의한다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Multi-AZ · stateless · failover · RTO/RPO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2761488"/>
            <a:ext cx="16002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44368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9535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LB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2898648"/>
            <a:ext cx="758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Global LB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3218688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health routing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798064" y="1600200"/>
            <a:ext cx="2542032" cy="3904488"/>
          </a:xfrm>
          <a:prstGeom prst="roundRect">
            <a:avLst/>
          </a:prstGeom>
          <a:solidFill>
            <a:srgbClr val="DBEAFE">
              <a:alpha val="4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62656" y="17739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AZ-A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08960" y="2240280"/>
            <a:ext cx="19202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64408" y="242316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91840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822192" y="237744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A1 / A2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822192" y="26974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stateless pool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3108960" y="3813048"/>
            <a:ext cx="19202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64408" y="3995928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91840" y="400507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822192" y="3950208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Primary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822192" y="42702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 leader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5715000" y="1600200"/>
            <a:ext cx="2542032" cy="3904488"/>
          </a:xfrm>
          <a:prstGeom prst="roundRect">
            <a:avLst/>
          </a:prstGeom>
          <a:solidFill>
            <a:srgbClr val="D1FAE5">
              <a:alpha val="4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79592" y="17739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AZ-B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25896" y="2240280"/>
            <a:ext cx="19202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81344" y="242316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08776" y="24323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739128" y="237744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B1 / B2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739128" y="26974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stateless pool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6025896" y="3813048"/>
            <a:ext cx="19202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81344" y="3995928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08776" y="400507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6739128" y="3950208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Replica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739128" y="42702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failover target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8887968" y="2176272"/>
            <a:ext cx="232257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043416" y="2359152"/>
            <a:ext cx="448056" cy="448056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070848" y="236829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9601200" y="231343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dependency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9601200" y="26334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circuit + fallback</a:t>
            </a:r>
            <a:endParaRPr lang="en-US" sz="740" dirty="0"/>
          </a:p>
        </p:txBody>
      </p:sp>
      <p:sp>
        <p:nvSpPr>
          <p:cNvPr id="45" name="Shape 42"/>
          <p:cNvSpPr/>
          <p:nvPr/>
        </p:nvSpPr>
        <p:spPr>
          <a:xfrm>
            <a:off x="8887968" y="3950208"/>
            <a:ext cx="2322576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043416" y="4133088"/>
            <a:ext cx="448056" cy="4480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070848" y="414223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BKP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9601200" y="408736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Backup / PITR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9601200" y="440740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restore tested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2221992" y="2715768"/>
            <a:ext cx="886968" cy="521208"/>
          </a:xfrm>
          <a:prstGeom prst="lineInv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2221992" y="2715768"/>
            <a:ext cx="3803904" cy="521208"/>
          </a:xfrm>
          <a:prstGeom prst="lineInv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5340096" y="4288536"/>
            <a:ext cx="68580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262372" y="3986784"/>
            <a:ext cx="84124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262372" y="39959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replication</a:t>
            </a:r>
            <a:endParaRPr lang="en-US" sz="740" dirty="0"/>
          </a:p>
        </p:txBody>
      </p:sp>
      <p:sp>
        <p:nvSpPr>
          <p:cNvPr id="55" name="Shape 52"/>
          <p:cNvSpPr/>
          <p:nvPr/>
        </p:nvSpPr>
        <p:spPr>
          <a:xfrm>
            <a:off x="7946136" y="2715768"/>
            <a:ext cx="941832" cy="0"/>
          </a:xfrm>
          <a:prstGeom prst="line">
            <a:avLst/>
          </a:prstGeom>
          <a:noFill/>
          <a:ln w="2032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7996428" y="2404872"/>
            <a:ext cx="84124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996428" y="24140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bounded call</a:t>
            </a:r>
            <a:endParaRPr lang="en-US" sz="740" dirty="0"/>
          </a:p>
        </p:txBody>
      </p:sp>
      <p:sp>
        <p:nvSpPr>
          <p:cNvPr id="58" name="Shape 55"/>
          <p:cNvSpPr/>
          <p:nvPr/>
        </p:nvSpPr>
        <p:spPr>
          <a:xfrm>
            <a:off x="6675120" y="4425696"/>
            <a:ext cx="2212848" cy="292608"/>
          </a:xfrm>
          <a:prstGeom prst="lineInv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7452360" y="4315968"/>
            <a:ext cx="658368" cy="228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452360" y="4325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backup</a:t>
            </a:r>
            <a:endParaRPr lang="en-US" sz="740" dirty="0"/>
          </a:p>
        </p:txBody>
      </p:sp>
      <p:sp>
        <p:nvSpPr>
          <p:cNvPr id="61" name="Shape 58"/>
          <p:cNvSpPr/>
          <p:nvPr/>
        </p:nvSpPr>
        <p:spPr>
          <a:xfrm>
            <a:off x="621792" y="5513832"/>
            <a:ext cx="247802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86384" y="56235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99.95%</a:t>
            </a:r>
            <a:endParaRPr lang="en-US" sz="1700" dirty="0"/>
          </a:p>
        </p:txBody>
      </p:sp>
      <p:sp>
        <p:nvSpPr>
          <p:cNvPr id="63" name="Text 60"/>
          <p:cNvSpPr txBox="1"/>
          <p:nvPr/>
        </p:nvSpPr>
        <p:spPr>
          <a:xfrm>
            <a:off x="786384" y="5961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Availability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3383280" y="5513832"/>
            <a:ext cx="247802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547872" y="56235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≤ 30 min</a:t>
            </a:r>
            <a:endParaRPr lang="en-US" sz="1700" dirty="0"/>
          </a:p>
        </p:txBody>
      </p:sp>
      <p:sp>
        <p:nvSpPr>
          <p:cNvPr id="66" name="Text 63"/>
          <p:cNvSpPr txBox="1"/>
          <p:nvPr/>
        </p:nvSpPr>
        <p:spPr>
          <a:xfrm>
            <a:off x="3547872" y="5961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RTO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6144768" y="5513832"/>
            <a:ext cx="247802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309360" y="56235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≤ 5 min</a:t>
            </a:r>
            <a:endParaRPr lang="en-US" sz="1700" dirty="0"/>
          </a:p>
        </p:txBody>
      </p:sp>
      <p:sp>
        <p:nvSpPr>
          <p:cNvPr id="69" name="Text 66"/>
          <p:cNvSpPr txBox="1"/>
          <p:nvPr/>
        </p:nvSpPr>
        <p:spPr>
          <a:xfrm>
            <a:off x="6309360" y="5961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RPO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8906256" y="5513832"/>
            <a:ext cx="247802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070848" y="56235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Quarterly</a:t>
            </a:r>
            <a:endParaRPr lang="en-US" sz="1700" dirty="0"/>
          </a:p>
        </p:txBody>
      </p:sp>
      <p:sp>
        <p:nvSpPr>
          <p:cNvPr id="72" name="Text 69"/>
          <p:cNvSpPr txBox="1"/>
          <p:nvPr/>
        </p:nvSpPr>
        <p:spPr>
          <a:xfrm>
            <a:off x="9070848" y="5961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Failover drill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관측성은 로그·메트릭·트레이스를 하나의 요청으로 묶는다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OpenTelemetry · SLO · actionable alert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1508760"/>
            <a:ext cx="1664208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169164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170078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GW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Gateway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35024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instrumented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286000" y="1911096"/>
            <a:ext cx="1371600" cy="153619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1792" y="2496312"/>
            <a:ext cx="1664208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2679192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268833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335024" y="263347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335024" y="2953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instrumented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2286000" y="2898648"/>
            <a:ext cx="1371600" cy="54864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1792" y="3483864"/>
            <a:ext cx="1664208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7240" y="3666744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367588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335024" y="36210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Workers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335024" y="39410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instrumented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2286000" y="3447288"/>
            <a:ext cx="1371600" cy="438912"/>
          </a:xfrm>
          <a:prstGeom prst="lineInv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21792" y="4471416"/>
            <a:ext cx="1664208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7240" y="4654296"/>
            <a:ext cx="448056" cy="44805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4663440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335024" y="46085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335024" y="49286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instrumented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2286000" y="3447288"/>
            <a:ext cx="1371600" cy="1426464"/>
          </a:xfrm>
          <a:prstGeom prst="lineInv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657600" y="2935224"/>
            <a:ext cx="192024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813048" y="3118104"/>
            <a:ext cx="448056" cy="4480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40480" y="312724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OTEL</a:t>
            </a:r>
            <a:endParaRPr lang="en-US" sz="720" dirty="0"/>
          </a:p>
        </p:txBody>
      </p:sp>
      <p:sp>
        <p:nvSpPr>
          <p:cNvPr id="38" name="Text 35"/>
          <p:cNvSpPr txBox="1"/>
          <p:nvPr/>
        </p:nvSpPr>
        <p:spPr>
          <a:xfrm>
            <a:off x="4370832" y="307238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Telemetry Collector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370832" y="339242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 · redact · route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6437376" y="2011680"/>
            <a:ext cx="148132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592824" y="2194560"/>
            <a:ext cx="448056" cy="4480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620256" y="22037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7150608" y="21488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Logs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7150608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structured events</a:t>
            </a:r>
            <a:endParaRPr lang="en-US" sz="740" dirty="0"/>
          </a:p>
        </p:txBody>
      </p:sp>
      <p:sp>
        <p:nvSpPr>
          <p:cNvPr id="45" name="Shape 42"/>
          <p:cNvSpPr/>
          <p:nvPr/>
        </p:nvSpPr>
        <p:spPr>
          <a:xfrm>
            <a:off x="5577840" y="2478024"/>
            <a:ext cx="859536" cy="969264"/>
          </a:xfrm>
          <a:prstGeom prst="lineInv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8247888" y="2011680"/>
            <a:ext cx="148132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403336" y="2194560"/>
            <a:ext cx="448056" cy="4480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30768" y="22037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8961120" y="21488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Metrics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8961120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 · USE · SLO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5577840" y="2478024"/>
            <a:ext cx="2670048" cy="969264"/>
          </a:xfrm>
          <a:prstGeom prst="lineInv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10058400" y="2011680"/>
            <a:ext cx="1481328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10213848" y="2194560"/>
            <a:ext cx="448056" cy="448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241280" y="220370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TRC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0771632" y="21488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Traces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71632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cross-service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5577840" y="2478024"/>
            <a:ext cx="4480560" cy="969264"/>
          </a:xfrm>
          <a:prstGeom prst="lineInv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437376" y="3840480"/>
            <a:ext cx="5102352" cy="10698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675120" y="4041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7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CORRELATION CONTRACT</a:t>
            </a:r>
            <a:endParaRPr lang="en-US" sz="840" dirty="0"/>
          </a:p>
        </p:txBody>
      </p:sp>
      <p:sp>
        <p:nvSpPr>
          <p:cNvPr id="60" name="Text 57"/>
          <p:cNvSpPr txBox="1"/>
          <p:nvPr/>
        </p:nvSpPr>
        <p:spPr>
          <a:xfrm>
            <a:off x="6675120" y="43708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trace_id · span_id · request_id · service · version · environment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621792" y="5513832"/>
            <a:ext cx="2478024" cy="576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77240" y="562356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RATE</a:t>
            </a:r>
            <a:endParaRPr lang="en-US" sz="760" dirty="0"/>
          </a:p>
        </p:txBody>
      </p:sp>
      <p:sp>
        <p:nvSpPr>
          <p:cNvPr id="63" name="Text 60"/>
          <p:cNvSpPr txBox="1"/>
          <p:nvPr/>
        </p:nvSpPr>
        <p:spPr>
          <a:xfrm>
            <a:off x="1508760" y="560527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요청량 / 처리량</a:t>
            </a:r>
            <a:endParaRPr lang="en-US" sz="740" dirty="0"/>
          </a:p>
        </p:txBody>
      </p:sp>
      <p:sp>
        <p:nvSpPr>
          <p:cNvPr id="64" name="Shape 61"/>
          <p:cNvSpPr/>
          <p:nvPr/>
        </p:nvSpPr>
        <p:spPr>
          <a:xfrm>
            <a:off x="3383280" y="5513832"/>
            <a:ext cx="2478024" cy="576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43F5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538728" y="562356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</a:t>
            </a:r>
            <a:endParaRPr lang="en-US" sz="760" dirty="0"/>
          </a:p>
        </p:txBody>
      </p:sp>
      <p:sp>
        <p:nvSpPr>
          <p:cNvPr id="66" name="Text 63"/>
          <p:cNvSpPr txBox="1"/>
          <p:nvPr/>
        </p:nvSpPr>
        <p:spPr>
          <a:xfrm>
            <a:off x="4270248" y="560527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실패율 / 분류</a:t>
            </a:r>
            <a:endParaRPr lang="en-US" sz="740" dirty="0"/>
          </a:p>
        </p:txBody>
      </p:sp>
      <p:sp>
        <p:nvSpPr>
          <p:cNvPr id="67" name="Shape 64"/>
          <p:cNvSpPr/>
          <p:nvPr/>
        </p:nvSpPr>
        <p:spPr>
          <a:xfrm>
            <a:off x="6144768" y="5513832"/>
            <a:ext cx="2478024" cy="576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300216" y="562356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DURATION</a:t>
            </a:r>
            <a:endParaRPr lang="en-US" sz="760" dirty="0"/>
          </a:p>
        </p:txBody>
      </p:sp>
      <p:sp>
        <p:nvSpPr>
          <p:cNvPr id="69" name="Text 66"/>
          <p:cNvSpPr txBox="1"/>
          <p:nvPr/>
        </p:nvSpPr>
        <p:spPr>
          <a:xfrm>
            <a:off x="7031736" y="560527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p50 · p95 · p99</a:t>
            </a:r>
            <a:endParaRPr lang="en-US" sz="740" dirty="0"/>
          </a:p>
        </p:txBody>
      </p:sp>
      <p:sp>
        <p:nvSpPr>
          <p:cNvPr id="70" name="Shape 67"/>
          <p:cNvSpPr/>
          <p:nvPr/>
        </p:nvSpPr>
        <p:spPr>
          <a:xfrm>
            <a:off x="8906256" y="5513832"/>
            <a:ext cx="2478024" cy="576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061704" y="562356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SATURATION</a:t>
            </a:r>
            <a:endParaRPr lang="en-US" sz="760" dirty="0"/>
          </a:p>
        </p:txBody>
      </p:sp>
      <p:sp>
        <p:nvSpPr>
          <p:cNvPr id="72" name="Text 69"/>
          <p:cNvSpPr txBox="1"/>
          <p:nvPr/>
        </p:nvSpPr>
        <p:spPr>
          <a:xfrm>
            <a:off x="9793224" y="560527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CPU · pool · queue</a:t>
            </a:r>
            <a:endParaRPr lang="en-US" sz="7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방식은 업무 일관성과 시간 결합도로 결정한다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Sync vs Async vs Batch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2103120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627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기준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670048" y="1600200"/>
            <a:ext cx="2898648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61488" y="162763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 API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568696" y="1600200"/>
            <a:ext cx="2898648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0136" y="162763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 이벤트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8467344" y="1600200"/>
            <a:ext cx="3118104" cy="475488"/>
          </a:xfrm>
          <a:prstGeom prst="rect">
            <a:avLst/>
          </a:prstGeom>
          <a:solidFill>
            <a:srgbClr val="162033"/>
          </a:solidFill>
          <a:ln w="8890">
            <a:solidFill>
              <a:srgbClr val="162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58784" y="1627632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 / 파일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66928" y="2075688"/>
            <a:ext cx="21031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2103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응답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2670048" y="2075688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61488" y="2103120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즉시 결과 필요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5568696" y="2075688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0136" y="2103120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 후 완료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8467344" y="2075688"/>
            <a:ext cx="311810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58784" y="2103120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창 이후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566928" y="2551176"/>
            <a:ext cx="210312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25786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결합도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2670048" y="2551176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61488" y="2578608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시간·가용성 결합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5568696" y="2551176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0136" y="2578608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스키마 결합</a:t>
            </a:r>
            <a:endParaRPr lang="en-US" sz="810" dirty="0"/>
          </a:p>
        </p:txBody>
      </p:sp>
      <p:sp>
        <p:nvSpPr>
          <p:cNvPr id="33" name="Shape 30"/>
          <p:cNvSpPr/>
          <p:nvPr/>
        </p:nvSpPr>
        <p:spPr>
          <a:xfrm>
            <a:off x="8467344" y="2551176"/>
            <a:ext cx="3118104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58784" y="257860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포맷·스케줄 결합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566928" y="3026664"/>
            <a:ext cx="21031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8368" y="30540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처리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2670048" y="3026664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761488" y="305409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 · retry · fallback</a:t>
            </a:r>
            <a:endParaRPr lang="en-US" sz="810" dirty="0"/>
          </a:p>
        </p:txBody>
      </p:sp>
      <p:sp>
        <p:nvSpPr>
          <p:cNvPr id="39" name="Shape 36"/>
          <p:cNvSpPr/>
          <p:nvPr/>
        </p:nvSpPr>
        <p:spPr>
          <a:xfrm>
            <a:off x="5568696" y="3026664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60136" y="305409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DLQ · replay · dedupe</a:t>
            </a:r>
            <a:endParaRPr lang="en-US" sz="810" dirty="0"/>
          </a:p>
        </p:txBody>
      </p:sp>
      <p:sp>
        <p:nvSpPr>
          <p:cNvPr id="41" name="Shape 38"/>
          <p:cNvSpPr/>
          <p:nvPr/>
        </p:nvSpPr>
        <p:spPr>
          <a:xfrm>
            <a:off x="8467344" y="3026664"/>
            <a:ext cx="311810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558784" y="3054096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성공 · 재실행</a:t>
            </a:r>
            <a:endParaRPr lang="en-US" sz="810" dirty="0"/>
          </a:p>
        </p:txBody>
      </p:sp>
      <p:sp>
        <p:nvSpPr>
          <p:cNvPr id="43" name="Shape 40"/>
          <p:cNvSpPr/>
          <p:nvPr/>
        </p:nvSpPr>
        <p:spPr>
          <a:xfrm>
            <a:off x="566928" y="3502152"/>
            <a:ext cx="210312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8368" y="35295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일관성</a:t>
            </a:r>
            <a:endParaRPr lang="en-US" sz="810" dirty="0"/>
          </a:p>
        </p:txBody>
      </p:sp>
      <p:sp>
        <p:nvSpPr>
          <p:cNvPr id="45" name="Shape 42"/>
          <p:cNvSpPr/>
          <p:nvPr/>
        </p:nvSpPr>
        <p:spPr>
          <a:xfrm>
            <a:off x="2670048" y="3502152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761488" y="352958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경계에 유리</a:t>
            </a:r>
            <a:endParaRPr lang="en-US" sz="810" dirty="0"/>
          </a:p>
        </p:txBody>
      </p:sp>
      <p:sp>
        <p:nvSpPr>
          <p:cNvPr id="47" name="Shape 44"/>
          <p:cNvSpPr/>
          <p:nvPr/>
        </p:nvSpPr>
        <p:spPr>
          <a:xfrm>
            <a:off x="5568696" y="3502152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60136" y="352958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일관성</a:t>
            </a:r>
            <a:endParaRPr lang="en-US" sz="810" dirty="0"/>
          </a:p>
        </p:txBody>
      </p:sp>
      <p:sp>
        <p:nvSpPr>
          <p:cNvPr id="49" name="Shape 46"/>
          <p:cNvSpPr/>
          <p:nvPr/>
        </p:nvSpPr>
        <p:spPr>
          <a:xfrm>
            <a:off x="8467344" y="3502152"/>
            <a:ext cx="3118104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558784" y="3529584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시점 기준 스냅샷</a:t>
            </a:r>
            <a:endParaRPr lang="en-US" sz="810" dirty="0"/>
          </a:p>
        </p:txBody>
      </p:sp>
      <p:sp>
        <p:nvSpPr>
          <p:cNvPr id="51" name="Shape 48"/>
          <p:cNvSpPr/>
          <p:nvPr/>
        </p:nvSpPr>
        <p:spPr>
          <a:xfrm>
            <a:off x="566928" y="3977640"/>
            <a:ext cx="21031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8368" y="40050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확장성</a:t>
            </a:r>
            <a:endParaRPr lang="en-US" sz="810" dirty="0"/>
          </a:p>
        </p:txBody>
      </p:sp>
      <p:sp>
        <p:nvSpPr>
          <p:cNvPr id="53" name="Shape 50"/>
          <p:cNvSpPr/>
          <p:nvPr/>
        </p:nvSpPr>
        <p:spPr>
          <a:xfrm>
            <a:off x="2670048" y="3977640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761488" y="40050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호출 체인에 제한</a:t>
            </a:r>
            <a:endParaRPr lang="en-US" sz="810" dirty="0"/>
          </a:p>
        </p:txBody>
      </p:sp>
      <p:sp>
        <p:nvSpPr>
          <p:cNvPr id="55" name="Shape 52"/>
          <p:cNvSpPr/>
          <p:nvPr/>
        </p:nvSpPr>
        <p:spPr>
          <a:xfrm>
            <a:off x="5568696" y="3977640"/>
            <a:ext cx="289864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660136" y="40050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버퍼·팬아웃에 유리</a:t>
            </a:r>
            <a:endParaRPr lang="en-US" sz="810" dirty="0"/>
          </a:p>
        </p:txBody>
      </p:sp>
      <p:sp>
        <p:nvSpPr>
          <p:cNvPr id="57" name="Shape 54"/>
          <p:cNvSpPr/>
          <p:nvPr/>
        </p:nvSpPr>
        <p:spPr>
          <a:xfrm>
            <a:off x="8467344" y="3977640"/>
            <a:ext cx="311810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558784" y="4005072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대량 처리에 유리</a:t>
            </a:r>
            <a:endParaRPr lang="en-US" sz="810" dirty="0"/>
          </a:p>
        </p:txBody>
      </p:sp>
      <p:sp>
        <p:nvSpPr>
          <p:cNvPr id="59" name="Shape 56"/>
          <p:cNvSpPr/>
          <p:nvPr/>
        </p:nvSpPr>
        <p:spPr>
          <a:xfrm>
            <a:off x="566928" y="4453128"/>
            <a:ext cx="2103120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58368" y="44805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사례</a:t>
            </a:r>
            <a:endParaRPr lang="en-US" sz="810" dirty="0"/>
          </a:p>
        </p:txBody>
      </p:sp>
      <p:sp>
        <p:nvSpPr>
          <p:cNvPr id="61" name="Shape 58"/>
          <p:cNvSpPr/>
          <p:nvPr/>
        </p:nvSpPr>
        <p:spPr>
          <a:xfrm>
            <a:off x="2670048" y="4453128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2761488" y="4480560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조회·승인·즉시 검증</a:t>
            </a:r>
            <a:endParaRPr lang="en-US" sz="810" dirty="0"/>
          </a:p>
        </p:txBody>
      </p:sp>
      <p:sp>
        <p:nvSpPr>
          <p:cNvPr id="63" name="Shape 60"/>
          <p:cNvSpPr/>
          <p:nvPr/>
        </p:nvSpPr>
        <p:spPr>
          <a:xfrm>
            <a:off x="5568696" y="4453128"/>
            <a:ext cx="2898648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660136" y="4480560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알림·동기화·워크플로</a:t>
            </a:r>
            <a:endParaRPr lang="en-US" sz="810" dirty="0"/>
          </a:p>
        </p:txBody>
      </p:sp>
      <p:sp>
        <p:nvSpPr>
          <p:cNvPr id="65" name="Shape 62"/>
          <p:cNvSpPr/>
          <p:nvPr/>
        </p:nvSpPr>
        <p:spPr>
          <a:xfrm>
            <a:off x="8467344" y="4453128"/>
            <a:ext cx="3118104" cy="47548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558784" y="4480560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정산·이관·리포트</a:t>
            </a:r>
            <a:endParaRPr lang="en-US" sz="810" dirty="0"/>
          </a:p>
        </p:txBody>
      </p:sp>
      <p:sp>
        <p:nvSpPr>
          <p:cNvPr id="67" name="Shape 64"/>
          <p:cNvSpPr/>
          <p:nvPr/>
        </p:nvSpPr>
        <p:spPr>
          <a:xfrm>
            <a:off x="566928" y="5102352"/>
            <a:ext cx="11018520" cy="89611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22960" y="5340096"/>
            <a:ext cx="548640" cy="274320"/>
          </a:xfrm>
          <a:prstGeom prst="roundRect">
            <a:avLst/>
          </a:prstGeom>
          <a:solidFill>
            <a:srgbClr val="24324A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14400" y="5349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ADR</a:t>
            </a:r>
            <a:endParaRPr lang="en-US" sz="850" dirty="0"/>
          </a:p>
        </p:txBody>
      </p:sp>
      <p:sp>
        <p:nvSpPr>
          <p:cNvPr id="70" name="Text 67"/>
          <p:cNvSpPr txBox="1"/>
          <p:nvPr/>
        </p:nvSpPr>
        <p:spPr>
          <a:xfrm>
            <a:off x="1517904" y="5330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 문장</a:t>
            </a:r>
            <a:endParaRPr lang="en-US" sz="860" dirty="0"/>
          </a:p>
        </p:txBody>
      </p:sp>
      <p:sp>
        <p:nvSpPr>
          <p:cNvPr id="71" name="Text 68"/>
          <p:cNvSpPr txBox="1"/>
          <p:nvPr/>
        </p:nvSpPr>
        <p:spPr>
          <a:xfrm>
            <a:off x="2404872" y="5230368"/>
            <a:ext cx="8732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“결제 승인 결과는 사용자 응답에 필수이므로 800 ms timeout의 동기 API를 사용하고, 후속 알림은 outbox 이벤트로 분리한다.”</a:t>
            </a:r>
            <a:endParaRPr lang="en-US" sz="930" dirty="0"/>
          </a:p>
        </p:txBody>
      </p:sp>
      <p:sp>
        <p:nvSpPr>
          <p:cNvPr id="72" name="Text 69"/>
          <p:cNvSpPr txBox="1"/>
          <p:nvPr/>
        </p:nvSpPr>
        <p:spPr>
          <a:xfrm>
            <a:off x="694944" y="615391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기록할 것: Context · Decision · Alternatives · Consequences · Owner · Review date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73736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로드맵은 기능이 아니라 위험 감소 순서로 만든다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선택형 예시 · Foundation → Sync → Async → Operate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선택형 예시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1993392" cy="43068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1600200"/>
            <a:ext cx="1993392" cy="64922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17556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</a:t>
            </a:r>
            <a:endParaRPr lang="en-US" sz="76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514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Keep static</a:t>
            </a:r>
            <a:endParaRPr lang="en-US" sz="122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054096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배포로 요구 충족 여부 확인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불필요한 WAS 추가 금지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804672" y="4325112"/>
            <a:ext cx="1517904" cy="0"/>
          </a:xfrm>
          <a:prstGeom prst="line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4590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WHEN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49286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동적 요구 명확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2560320" y="3685032"/>
            <a:ext cx="228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788920" y="1600200"/>
            <a:ext cx="1993392" cy="4306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88920" y="1600200"/>
            <a:ext cx="1993392" cy="64922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35224" y="17556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575304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1–2주</a:t>
            </a:r>
            <a:endParaRPr lang="en-US" sz="760" dirty="0"/>
          </a:p>
        </p:txBody>
      </p:sp>
      <p:sp>
        <p:nvSpPr>
          <p:cNvPr id="25" name="Text 22"/>
          <p:cNvSpPr txBox="1"/>
          <p:nvPr/>
        </p:nvSpPr>
        <p:spPr>
          <a:xfrm>
            <a:off x="2953512" y="2514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Foundation</a:t>
            </a:r>
            <a:endParaRPr lang="en-US" sz="122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3054096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contract · identity · SLO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CI/CD · secret boundary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3026664" y="4325112"/>
            <a:ext cx="1517904" cy="0"/>
          </a:xfrm>
          <a:prstGeom prst="line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08376" y="4590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WHEN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2990088" y="49286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리뷰 승인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4782312" y="3685032"/>
            <a:ext cx="228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010912" y="1600200"/>
            <a:ext cx="1993392" cy="4306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10912" y="1600200"/>
            <a:ext cx="1993392" cy="649224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57216" y="17556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5797296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2–4주</a:t>
            </a:r>
            <a:endParaRPr lang="en-US" sz="760" dirty="0"/>
          </a:p>
        </p:txBody>
      </p:sp>
      <p:sp>
        <p:nvSpPr>
          <p:cNvPr id="35" name="Text 32"/>
          <p:cNvSpPr txBox="1"/>
          <p:nvPr/>
        </p:nvSpPr>
        <p:spPr>
          <a:xfrm>
            <a:off x="5175504" y="2514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path</a:t>
            </a:r>
            <a:endParaRPr lang="en-US" sz="1220" dirty="0"/>
          </a:p>
        </p:txBody>
      </p:sp>
      <p:sp>
        <p:nvSpPr>
          <p:cNvPr id="36" name="Text 33"/>
          <p:cNvSpPr txBox="1"/>
          <p:nvPr/>
        </p:nvSpPr>
        <p:spPr>
          <a:xfrm>
            <a:off x="5193792" y="3054096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WAS · DB transaction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 · idempotency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5248656" y="4325112"/>
            <a:ext cx="1517904" cy="0"/>
          </a:xfrm>
          <a:prstGeom prst="line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230368" y="4590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WHEN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5212080" y="49286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부하/장애 테스트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7004304" y="3685032"/>
            <a:ext cx="228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232904" y="1600200"/>
            <a:ext cx="1993392" cy="4306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232904" y="1600200"/>
            <a:ext cx="1993392" cy="64922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79208" y="17556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8019288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2–3주</a:t>
            </a:r>
            <a:endParaRPr lang="en-US" sz="760" dirty="0"/>
          </a:p>
        </p:txBody>
      </p:sp>
      <p:sp>
        <p:nvSpPr>
          <p:cNvPr id="45" name="Text 42"/>
          <p:cNvSpPr txBox="1"/>
          <p:nvPr/>
        </p:nvSpPr>
        <p:spPr>
          <a:xfrm>
            <a:off x="7397496" y="2514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path</a:t>
            </a:r>
            <a:endParaRPr lang="en-US" sz="1220" dirty="0"/>
          </a:p>
        </p:txBody>
      </p:sp>
      <p:sp>
        <p:nvSpPr>
          <p:cNvPr id="46" name="Text 43"/>
          <p:cNvSpPr txBox="1"/>
          <p:nvPr/>
        </p:nvSpPr>
        <p:spPr>
          <a:xfrm>
            <a:off x="7415784" y="3054096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outbox · broker · consumer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DLQ · replay runbook</a:t>
            </a:r>
            <a:endParaRPr lang="en-US" sz="810" dirty="0"/>
          </a:p>
        </p:txBody>
      </p:sp>
      <p:sp>
        <p:nvSpPr>
          <p:cNvPr id="47" name="Shape 44"/>
          <p:cNvSpPr/>
          <p:nvPr/>
        </p:nvSpPr>
        <p:spPr>
          <a:xfrm>
            <a:off x="7470648" y="4325112"/>
            <a:ext cx="1517904" cy="0"/>
          </a:xfrm>
          <a:prstGeom prst="line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52360" y="4590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WHEN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7434072" y="49286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중복/재처리 검증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9226296" y="3685032"/>
            <a:ext cx="228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9454896" y="1600200"/>
            <a:ext cx="1993392" cy="4306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9454896" y="1600200"/>
            <a:ext cx="1993392" cy="64922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601200" y="17556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10241280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지속</a:t>
            </a:r>
            <a:endParaRPr lang="en-US" sz="760" dirty="0"/>
          </a:p>
        </p:txBody>
      </p:sp>
      <p:sp>
        <p:nvSpPr>
          <p:cNvPr id="55" name="Text 52"/>
          <p:cNvSpPr txBox="1"/>
          <p:nvPr/>
        </p:nvSpPr>
        <p:spPr>
          <a:xfrm>
            <a:off x="9619488" y="2514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Operate</a:t>
            </a:r>
            <a:endParaRPr lang="en-US" sz="1220" dirty="0"/>
          </a:p>
        </p:txBody>
      </p:sp>
      <p:sp>
        <p:nvSpPr>
          <p:cNvPr id="56" name="Text 53"/>
          <p:cNvSpPr txBox="1"/>
          <p:nvPr/>
        </p:nvSpPr>
        <p:spPr>
          <a:xfrm>
            <a:off x="9637776" y="3054096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 · alert · failover drill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cost · capacity review</a:t>
            </a:r>
            <a:endParaRPr lang="en-US" sz="810" dirty="0"/>
          </a:p>
        </p:txBody>
      </p:sp>
      <p:sp>
        <p:nvSpPr>
          <p:cNvPr id="57" name="Shape 54"/>
          <p:cNvSpPr/>
          <p:nvPr/>
        </p:nvSpPr>
        <p:spPr>
          <a:xfrm>
            <a:off x="9692640" y="4325112"/>
            <a:ext cx="1517904" cy="0"/>
          </a:xfrm>
          <a:prstGeom prst="line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674352" y="4590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WHEN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9656064" y="49286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인수 완료</a:t>
            </a:r>
            <a:endParaRPr lang="en-US" sz="820" dirty="0"/>
          </a:p>
        </p:txBody>
      </p:sp>
      <p:sp>
        <p:nvSpPr>
          <p:cNvPr id="60" name="Shape 57"/>
          <p:cNvSpPr/>
          <p:nvPr/>
        </p:nvSpPr>
        <p:spPr>
          <a:xfrm>
            <a:off x="566928" y="6099048"/>
            <a:ext cx="11018520" cy="18288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097280" cy="2743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아키텍처 리뷰 체크리스트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75320" y="777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장씩 복제하고, 답이 없는 항목만 다음 설계 과제로 남긴다.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11109960" cy="0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13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70" kern="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EDITABLE VECTOR · KO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00200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746504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1746504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170992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Context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2441448" y="1709928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사용자·외부 시스템·경계가 보이는가?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6126480" y="1600200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91072" y="1746504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1072" y="1746504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39712" y="170992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Interface</a:t>
            </a:r>
            <a:endParaRPr lang="en-US" sz="86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1709928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프로토콜·timeout·버전이 있는가?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566928" y="2496312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264261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2642616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260604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Data</a:t>
            </a:r>
            <a:endParaRPr lang="en-US" sz="860" dirty="0"/>
          </a:p>
        </p:txBody>
      </p:sp>
      <p:sp>
        <p:nvSpPr>
          <p:cNvPr id="25" name="Text 22"/>
          <p:cNvSpPr txBox="1"/>
          <p:nvPr/>
        </p:nvSpPr>
        <p:spPr>
          <a:xfrm>
            <a:off x="2441448" y="2606040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원장·복제·일관성·보존이 있는가?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6126480" y="2496312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91072" y="2642616"/>
            <a:ext cx="402336" cy="40233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91072" y="2642616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839712" y="260604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43F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Security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2606040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신원·권한·비밀·감사가 있는가?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566928" y="3392424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31520" y="353872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3538728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350215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Resilience</a:t>
            </a:r>
            <a:endParaRPr lang="en-US" sz="860" dirty="0"/>
          </a:p>
        </p:txBody>
      </p:sp>
      <p:sp>
        <p:nvSpPr>
          <p:cNvPr id="35" name="Text 32"/>
          <p:cNvSpPr txBox="1"/>
          <p:nvPr/>
        </p:nvSpPr>
        <p:spPr>
          <a:xfrm>
            <a:off x="2441448" y="3502152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실패·재시도·복구·RTO/RPO가 있는가?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6126480" y="3392424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91072" y="353872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291072" y="3538728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39712" y="350215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· Observability</a:t>
            </a:r>
            <a:endParaRPr lang="en-US" sz="860" dirty="0"/>
          </a:p>
        </p:txBody>
      </p:sp>
      <p:sp>
        <p:nvSpPr>
          <p:cNvPr id="40" name="Text 37"/>
          <p:cNvSpPr txBox="1"/>
          <p:nvPr/>
        </p:nvSpPr>
        <p:spPr>
          <a:xfrm>
            <a:off x="8001000" y="3502152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SLO·신호·trace-id·알람이 있는가?</a:t>
            </a:r>
            <a:endParaRPr lang="en-US" sz="840" dirty="0"/>
          </a:p>
        </p:txBody>
      </p:sp>
      <p:sp>
        <p:nvSpPr>
          <p:cNvPr id="41" name="Shape 38"/>
          <p:cNvSpPr/>
          <p:nvPr/>
        </p:nvSpPr>
        <p:spPr>
          <a:xfrm>
            <a:off x="566928" y="4288536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31520" y="443484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434840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280160" y="439826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· Delivery</a:t>
            </a:r>
            <a:endParaRPr lang="en-US" sz="860" dirty="0"/>
          </a:p>
        </p:txBody>
      </p:sp>
      <p:sp>
        <p:nvSpPr>
          <p:cNvPr id="45" name="Text 42"/>
          <p:cNvSpPr txBox="1"/>
          <p:nvPr/>
        </p:nvSpPr>
        <p:spPr>
          <a:xfrm>
            <a:off x="2441448" y="4398264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검증·승인·롤백·아티팩트가 있는가?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6126480" y="4288536"/>
            <a:ext cx="527608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B1220">
                <a:alpha val="Infinity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291072" y="4434840"/>
            <a:ext cx="402336" cy="40233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291072" y="4434840"/>
            <a:ext cx="402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839712" y="439826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· Ownership</a:t>
            </a:r>
            <a:endParaRPr lang="en-US" sz="860" dirty="0"/>
          </a:p>
        </p:txBody>
      </p:sp>
      <p:sp>
        <p:nvSpPr>
          <p:cNvPr id="50" name="Text 47"/>
          <p:cNvSpPr txBox="1"/>
          <p:nvPr/>
        </p:nvSpPr>
        <p:spPr>
          <a:xfrm>
            <a:off x="8001000" y="4398264"/>
            <a:ext cx="3145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운영자·결정권자·리뷰일이 있는가?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566928" y="5376672"/>
            <a:ext cx="11018520" cy="740664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41248" y="558698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06B6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READY TO COMPOSE</a:t>
            </a:r>
            <a:endParaRPr lang="en-US" sz="860" dirty="0"/>
          </a:p>
        </p:txBody>
      </p:sp>
      <p:sp>
        <p:nvSpPr>
          <p:cNvPr id="53" name="Text 50"/>
          <p:cNvSpPr txBox="1"/>
          <p:nvPr/>
        </p:nvSpPr>
        <p:spPr>
          <a:xfrm>
            <a:off x="2395728" y="5522976"/>
            <a:ext cx="6601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 03–07 · EIAM 실제 예제 09–21 · WAS 선택형 예제 23–31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9272016" y="5568696"/>
            <a:ext cx="1956816" cy="27432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363456" y="55778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· EDIT · PRESENT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Everything Is A Markdown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EIAM 이슈 #44 아키텍처 PPT 키트</dc:title>
  <dc:subject>이슈 #44 빌드·호스팅·릴리스 아키텍처와 재사용 가능한 WAS 참조 아키텍처</dc:subject>
  <dc:creator>Everything Is A Markdown contributors</dc:creator>
  <cp:lastModifiedBy>Everything Is A Markdown contributors</cp:lastModifiedBy>
  <cp:revision>1</cp:revision>
  <dcterms:created xsi:type="dcterms:W3CDTF">2026-07-24T08:39:28Z</dcterms:created>
  <dcterms:modified xsi:type="dcterms:W3CDTF">2026-07-24T08:39:28Z</dcterms:modified>
</cp:coreProperties>
</file>